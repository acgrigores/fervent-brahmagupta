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judges and organizers! We are thrilled to present 'Field to Future: Bloom'—an eco-restoration RPG and precision agriculture impact platform built for the Bayer Field to Future track.
Our core philosophy is simple: environmental recovery and agricultural productivity cannot be treated in isolation. In Bloom, players experience a dynamic visual transformation from a charred wildfire wasteland into a lush, thriving Eden by solving real ecological crises and deploying smart farming strategies that mirror Bayer's real-world innovations.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outlines the urgency. Across the world, climate disasters don't stop at forest boundaries—they strike our farms directly. Wildfire smoke blocks sunlight, fertilizer runoff creates toxic algae that clogs irrigation, and monoculture eliminates pollinator corridors.
Furthermore, there is a dangerous false dichotomy that agriculture and biodiversity must be enemies. And worst of all, younger generations feel intense climate anxiety without an interactive, empowering outlet. We set out to change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introduces 'Bloom'. Instead of passive learning, players are dropped into a living ecosystem. The central farm is the hub: its golden corn, apples, winter wheat, soy, sunflowers, and barley are all withering.
The player must venture out into surrounding biomes, solve crisis minigames, and deploy sustainable practices. As they do, our custom WebGL shader strips away the grey ash and floods the screen with lush color. Most importantly, game progress translates into real-world dollars and real-world legislative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highlights our direct integration with the Bayer Field to Future theme. In the Grasslands quest, players don't just click 'fix'. They interact with a smart farming control board balancing four pillars of modern ag.
If you only maximize yield without pollinator corridors, biodiversity crashes. If you ignore yield, food security fails. The simulation demonstrates the profound synergy of Bayer's precision ag: no-till farming, drip irrigation, biological crop protection, and pollinator corridors achieve both 100% yield and 100% biodiversity.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outlines the ecological ecosystem architecture. Every biome is tied directly to an endangered animal guardian and a specific central farm crop.
For instance, when the lake is polluted with algae and microplastics, irrigation pumps jam and sweet corn dies. Clean the lake with Mo the Manatee, and the sweet corn flourishes! Fix the cloud forest with Paku the Red Panda, and the apple orchard blossoms. This directly teaches system-level ecological thinking.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showcases our AI architecture. We integrated Google Gemini 1.5 Flash to bring every endangered guardian to life.
Instead of static NPC dialogue trees, Gemini understands the exact real-time flourish score of the game. If you ask Paku why the farm crops are failing, he explains the atmospheric physics of wildfire smoke choking apple orchards. It turns scientific literacy into an emotional, unforgettable character connection.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walks through our technical architecture. We married Next.js 14 with Phaser 3.
One technical challenge was delivering instant performance without massive asset downloads. We wrote custom Web Audio API synthesizers that generate ambient music procedurally in the browser for all 7 biomes! Our WebGL shader pipeline dynamically blends color saturation and brightness on the fly as the player revives each habitat.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addresses sustainability and monetization. How do we fund this? We created the Impact Treasury.
Instead of predatory microtransactions, Bloom runs on a 'time and presence economy'. As players explore and learn, they earn biome coins. Sustainability sponsors like Bayer Crop Science provide matching grant pools where 500 coins equal $1.00. Our bottom ad banner showcases clean, curated sustainability initiatives that reward players for their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demonstrates what makes Bloom truly impactful. Video games are notorious for keeping players trapped behind screens. Bloom is designed to launch players INTO real-world civic participation.
Every quest concludes with an immediate real-world action: copying a pre-written legislative email to state representatives, signing verified Arctic petitions, or sharing verified social media graphics. We don't just teach conservation—we provide the megaphone.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details our market validation and expansion roadmap. There are over 3 billion gamers globally, and cozy, nature-focused games are breaking records.
Our roadmap extends beyond the hackathon: Q1 brings a classroom education edition for STEM classes. In Q2, we plan to pipe in real-world satellite moisture telemetry from precision ag sensors, so when a real region experiences drought, the corresponding in-game biome reflects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highlights our execution capability. In just 48 hours, we delivered a comprehensive, end-to-end playable platform: a massive 3200x2400 canvas, 7 distinct crisis minigames, full Bayer smart farming simulation, real WebGL shaders, streaming Gemini 1.5 Flash dialogues, and procedurally synthesized ambient soundtracks.
Everything you see is live, fully interactive, and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'Field to Future: Bloom' proves that when you give people agency, beauty, and scientific truth, they don't just learn about sustainability—they actively create it.
We invite you to step into the clearing, meet Paku, configure Bayer's precision farm, and watch the ashes turn to Eden with us. Thank you, and we welcome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31520" y="731520"/>
            <a:ext cx="10728655" cy="5394960"/>
          </a:xfrm>
          <a:prstGeom prst="roundRect">
            <a:avLst>
              <a:gd name="adj" fmla="val 4237"/>
            </a:avLst>
          </a:prstGeom>
          <a:solidFill>
            <a:srgbClr val="131E35"/>
          </a:solidFill>
          <a:ln w="19050">
            <a:solidFill>
              <a:srgbClr val="1E3A5F"/>
            </a:solidFill>
            <a:prstDash val="solid"/>
          </a:ln>
        </p:spPr>
      </p:sp>
      <p:sp>
        <p:nvSpPr>
          <p:cNvPr id="3" name="Shape 1"/>
          <p:cNvSpPr/>
          <p:nvPr/>
        </p:nvSpPr>
        <p:spPr>
          <a:xfrm>
            <a:off x="1188720" y="1188720"/>
            <a:ext cx="4389120" cy="411480"/>
          </a:xfrm>
          <a:prstGeom prst="roundRect">
            <a:avLst>
              <a:gd name="adj" fmla="val 44444"/>
            </a:avLst>
          </a:prstGeom>
          <a:solidFill>
            <a:srgbClr val="143828"/>
          </a:solidFill>
          <a:ln w="15240">
            <a:solidFill>
              <a:srgbClr val="10B981"/>
            </a:solidFill>
            <a:prstDash val="solid"/>
          </a:ln>
        </p:spPr>
      </p:sp>
      <p:sp>
        <p:nvSpPr>
          <p:cNvPr id="4" name="Text 2"/>
          <p:cNvSpPr/>
          <p:nvPr/>
        </p:nvSpPr>
        <p:spPr>
          <a:xfrm>
            <a:off x="1188720" y="1188720"/>
            <a:ext cx="4389120" cy="411480"/>
          </a:xfrm>
          <a:prstGeom prst="rect">
            <a:avLst/>
          </a:prstGeom>
          <a:noFill/>
          <a:ln/>
        </p:spPr>
        <p:txBody>
          <a:bodyPr wrap="square" rtlCol="0" anchor="ctr"/>
          <a:lstStyle/>
          <a:p>
            <a:pPr algn="ctr" indent="0" marL="0">
              <a:buNone/>
            </a:pPr>
            <a:r>
              <a:rPr lang="en-US" sz="950" b="1" dirty="0">
                <a:solidFill>
                  <a:srgbClr val="10B981"/>
                </a:solidFill>
              </a:rPr>
              <a:t>🌾 BAYER TRACK: FIELD TO FUTURE (AGRICULTURE &amp; SUSTAINABILITY)</a:t>
            </a:r>
            <a:endParaRPr lang="en-US" sz="950" dirty="0"/>
          </a:p>
        </p:txBody>
      </p:sp>
      <p:sp>
        <p:nvSpPr>
          <p:cNvPr id="5" name="Text 3"/>
          <p:cNvSpPr/>
          <p:nvPr/>
        </p:nvSpPr>
        <p:spPr>
          <a:xfrm>
            <a:off x="1188720" y="1737360"/>
            <a:ext cx="9601200" cy="1005840"/>
          </a:xfrm>
          <a:prstGeom prst="rect">
            <a:avLst/>
          </a:prstGeom>
          <a:noFill/>
          <a:ln/>
        </p:spPr>
        <p:txBody>
          <a:bodyPr wrap="square" rtlCol="0" anchor="ctr"/>
          <a:lstStyle/>
          <a:p>
            <a:pPr indent="0" marL="0">
              <a:buNone/>
            </a:pPr>
            <a:r>
              <a:rPr lang="en-US" sz="4400" b="1" dirty="0">
                <a:solidFill>
                  <a:srgbClr val="F8FAFC"/>
                </a:solidFill>
                <a:latin typeface="Arial" pitchFamily="34" charset="0"/>
                <a:ea typeface="Arial" pitchFamily="34" charset="-122"/>
                <a:cs typeface="Arial" pitchFamily="34" charset="-120"/>
              </a:rPr>
              <a:t>Field to Future: Bloom</a:t>
            </a:r>
            <a:endParaRPr lang="en-US" sz="4400" dirty="0"/>
          </a:p>
        </p:txBody>
      </p:sp>
      <p:sp>
        <p:nvSpPr>
          <p:cNvPr id="6" name="Text 4"/>
          <p:cNvSpPr/>
          <p:nvPr/>
        </p:nvSpPr>
        <p:spPr>
          <a:xfrm>
            <a:off x="1234440" y="2697480"/>
            <a:ext cx="7315200" cy="411480"/>
          </a:xfrm>
          <a:prstGeom prst="rect">
            <a:avLst/>
          </a:prstGeom>
          <a:noFill/>
          <a:ln/>
        </p:spPr>
        <p:txBody>
          <a:bodyPr wrap="square" rtlCol="0" anchor="ctr"/>
          <a:lstStyle/>
          <a:p>
            <a:pPr indent="0" marL="0">
              <a:buNone/>
            </a:pPr>
            <a:r>
              <a:rPr lang="en-US" sz="1800" b="1" spc="400" kern="0" dirty="0">
                <a:solidFill>
                  <a:srgbClr val="F59E0B"/>
                </a:solidFill>
                <a:latin typeface="Arial" pitchFamily="34" charset="0"/>
                <a:ea typeface="Arial" pitchFamily="34" charset="-122"/>
                <a:cs typeface="Arial" pitchFamily="34" charset="-120"/>
              </a:rPr>
              <a:t>FROM ASHES TO EDEN</a:t>
            </a:r>
            <a:endParaRPr lang="en-US" sz="1800" dirty="0"/>
          </a:p>
        </p:txBody>
      </p:sp>
      <p:sp>
        <p:nvSpPr>
          <p:cNvPr id="7" name="Text 5"/>
          <p:cNvSpPr/>
          <p:nvPr/>
        </p:nvSpPr>
        <p:spPr>
          <a:xfrm>
            <a:off x="1188720" y="3246120"/>
            <a:ext cx="9601200" cy="1005840"/>
          </a:xfrm>
          <a:prstGeom prst="rect">
            <a:avLst/>
          </a:prstGeom>
          <a:noFill/>
          <a:ln/>
        </p:spPr>
        <p:txBody>
          <a:bodyPr wrap="square" rtlCol="0" anchor="ctr"/>
          <a:lstStyle/>
          <a:p>
            <a:pPr indent="0" marL="0">
              <a:lnSpc>
                <a:spcPts val="2200"/>
              </a:lnSpc>
              <a:buNone/>
            </a:pPr>
            <a:r>
              <a:rPr lang="en-US" sz="1400" dirty="0">
                <a:solidFill>
                  <a:srgbClr val="94A3B8"/>
                </a:solidFill>
              </a:rPr>
              <a:t>An eco-restoration RPG and smart agriculture impact platform. Travel from a charred wildfire ruin to a thriving biosphere—restoring 6 failing farm crops, mastering Bayer precision agriculture, and turning in-game actions into real-world conservation funding.</a:t>
            </a:r>
            <a:endParaRPr lang="en-US" sz="1400" dirty="0"/>
          </a:p>
        </p:txBody>
      </p:sp>
      <p:sp>
        <p:nvSpPr>
          <p:cNvPr id="8" name="Shape 6"/>
          <p:cNvSpPr/>
          <p:nvPr/>
        </p:nvSpPr>
        <p:spPr>
          <a:xfrm>
            <a:off x="1188720" y="4434840"/>
            <a:ext cx="2286000" cy="1234440"/>
          </a:xfrm>
          <a:prstGeom prst="roundRect">
            <a:avLst>
              <a:gd name="adj" fmla="val 11111"/>
            </a:avLst>
          </a:prstGeom>
          <a:solidFill>
            <a:srgbClr val="1E293B"/>
          </a:solidFill>
          <a:ln w="12700">
            <a:solidFill>
              <a:srgbClr val="334155"/>
            </a:solidFill>
            <a:prstDash val="solid"/>
          </a:ln>
        </p:spPr>
      </p:sp>
      <p:sp>
        <p:nvSpPr>
          <p:cNvPr id="9" name="Text 7"/>
          <p:cNvSpPr/>
          <p:nvPr/>
        </p:nvSpPr>
        <p:spPr>
          <a:xfrm>
            <a:off x="1325880" y="4526280"/>
            <a:ext cx="2011680" cy="457200"/>
          </a:xfrm>
          <a:prstGeom prst="rect">
            <a:avLst/>
          </a:prstGeom>
          <a:noFill/>
          <a:ln/>
        </p:spPr>
        <p:txBody>
          <a:bodyPr wrap="square" rtlCol="0" anchor="ctr"/>
          <a:lstStyle/>
          <a:p>
            <a:pPr indent="0" marL="0">
              <a:buNone/>
            </a:pPr>
            <a:r>
              <a:rPr lang="en-US" sz="1100" b="1" dirty="0">
                <a:solidFill>
                  <a:srgbClr val="F8FAFC"/>
                </a:solidFill>
              </a:rPr>
              <a:t>🎮 Phaser 3 &amp; WebGL Shaders</a:t>
            </a:r>
            <a:endParaRPr lang="en-US" sz="1100" dirty="0"/>
          </a:p>
        </p:txBody>
      </p:sp>
      <p:sp>
        <p:nvSpPr>
          <p:cNvPr id="10" name="Text 8"/>
          <p:cNvSpPr/>
          <p:nvPr/>
        </p:nvSpPr>
        <p:spPr>
          <a:xfrm>
            <a:off x="1325880" y="4983480"/>
            <a:ext cx="2011680" cy="594360"/>
          </a:xfrm>
          <a:prstGeom prst="rect">
            <a:avLst/>
          </a:prstGeom>
          <a:noFill/>
          <a:ln/>
        </p:spPr>
        <p:txBody>
          <a:bodyPr wrap="square" rtlCol="0" anchor="ctr"/>
          <a:lstStyle/>
          <a:p>
            <a:pPr indent="0" marL="0">
              <a:buNone/>
            </a:pPr>
            <a:r>
              <a:rPr lang="en-US" sz="950" dirty="0">
                <a:solidFill>
                  <a:srgbClr val="94A3B8"/>
                </a:solidFill>
              </a:rPr>
              <a:t>Real-time Ash to Eden visual bloom</a:t>
            </a:r>
            <a:endParaRPr lang="en-US" sz="950" dirty="0"/>
          </a:p>
        </p:txBody>
      </p:sp>
      <p:sp>
        <p:nvSpPr>
          <p:cNvPr id="11" name="Shape 9"/>
          <p:cNvSpPr/>
          <p:nvPr/>
        </p:nvSpPr>
        <p:spPr>
          <a:xfrm>
            <a:off x="3611880" y="4434840"/>
            <a:ext cx="2286000" cy="1234440"/>
          </a:xfrm>
          <a:prstGeom prst="roundRect">
            <a:avLst>
              <a:gd name="adj" fmla="val 11111"/>
            </a:avLst>
          </a:prstGeom>
          <a:solidFill>
            <a:srgbClr val="1E293B"/>
          </a:solidFill>
          <a:ln w="12700">
            <a:solidFill>
              <a:srgbClr val="334155"/>
            </a:solidFill>
            <a:prstDash val="solid"/>
          </a:ln>
        </p:spPr>
      </p:sp>
      <p:sp>
        <p:nvSpPr>
          <p:cNvPr id="12" name="Text 10"/>
          <p:cNvSpPr/>
          <p:nvPr/>
        </p:nvSpPr>
        <p:spPr>
          <a:xfrm>
            <a:off x="3749040" y="4526280"/>
            <a:ext cx="2011680" cy="457200"/>
          </a:xfrm>
          <a:prstGeom prst="rect">
            <a:avLst/>
          </a:prstGeom>
          <a:noFill/>
          <a:ln/>
        </p:spPr>
        <p:txBody>
          <a:bodyPr wrap="square" rtlCol="0" anchor="ctr"/>
          <a:lstStyle/>
          <a:p>
            <a:pPr indent="0" marL="0">
              <a:buNone/>
            </a:pPr>
            <a:r>
              <a:rPr lang="en-US" sz="1100" b="1" dirty="0">
                <a:solidFill>
                  <a:srgbClr val="F8FAFC"/>
                </a:solidFill>
              </a:rPr>
              <a:t>🌱 Bayer Precision Ag Sim</a:t>
            </a:r>
            <a:endParaRPr lang="en-US" sz="1100" dirty="0"/>
          </a:p>
        </p:txBody>
      </p:sp>
      <p:sp>
        <p:nvSpPr>
          <p:cNvPr id="13" name="Text 11"/>
          <p:cNvSpPr/>
          <p:nvPr/>
        </p:nvSpPr>
        <p:spPr>
          <a:xfrm>
            <a:off x="3749040" y="4983480"/>
            <a:ext cx="2011680" cy="594360"/>
          </a:xfrm>
          <a:prstGeom prst="rect">
            <a:avLst/>
          </a:prstGeom>
          <a:noFill/>
          <a:ln/>
        </p:spPr>
        <p:txBody>
          <a:bodyPr wrap="square" rtlCol="0" anchor="ctr"/>
          <a:lstStyle/>
          <a:p>
            <a:pPr indent="0" marL="0">
              <a:buNone/>
            </a:pPr>
            <a:r>
              <a:rPr lang="en-US" sz="950" dirty="0">
                <a:solidFill>
                  <a:srgbClr val="94A3B8"/>
                </a:solidFill>
              </a:rPr>
              <a:t>100% Yield + 100% Biodiversity balance</a:t>
            </a:r>
            <a:endParaRPr lang="en-US" sz="950" dirty="0"/>
          </a:p>
        </p:txBody>
      </p:sp>
      <p:sp>
        <p:nvSpPr>
          <p:cNvPr id="14" name="Shape 12"/>
          <p:cNvSpPr/>
          <p:nvPr/>
        </p:nvSpPr>
        <p:spPr>
          <a:xfrm>
            <a:off x="6035040" y="4434840"/>
            <a:ext cx="2286000" cy="1234440"/>
          </a:xfrm>
          <a:prstGeom prst="roundRect">
            <a:avLst>
              <a:gd name="adj" fmla="val 11111"/>
            </a:avLst>
          </a:prstGeom>
          <a:solidFill>
            <a:srgbClr val="1E293B"/>
          </a:solidFill>
          <a:ln w="12700">
            <a:solidFill>
              <a:srgbClr val="334155"/>
            </a:solidFill>
            <a:prstDash val="solid"/>
          </a:ln>
        </p:spPr>
      </p:sp>
      <p:sp>
        <p:nvSpPr>
          <p:cNvPr id="15" name="Text 13"/>
          <p:cNvSpPr/>
          <p:nvPr/>
        </p:nvSpPr>
        <p:spPr>
          <a:xfrm>
            <a:off x="6172200" y="4526280"/>
            <a:ext cx="2011680" cy="457200"/>
          </a:xfrm>
          <a:prstGeom prst="rect">
            <a:avLst/>
          </a:prstGeom>
          <a:noFill/>
          <a:ln/>
        </p:spPr>
        <p:txBody>
          <a:bodyPr wrap="square" rtlCol="0" anchor="ctr"/>
          <a:lstStyle/>
          <a:p>
            <a:pPr indent="0" marL="0">
              <a:buNone/>
            </a:pPr>
            <a:r>
              <a:rPr lang="en-US" sz="1100" b="1" dirty="0">
                <a:solidFill>
                  <a:srgbClr val="F8FAFC"/>
                </a:solidFill>
              </a:rPr>
              <a:t>🤖 Gemini 1.5 Flash AI Agents</a:t>
            </a:r>
            <a:endParaRPr lang="en-US" sz="1100" dirty="0"/>
          </a:p>
        </p:txBody>
      </p:sp>
      <p:sp>
        <p:nvSpPr>
          <p:cNvPr id="16" name="Text 14"/>
          <p:cNvSpPr/>
          <p:nvPr/>
        </p:nvSpPr>
        <p:spPr>
          <a:xfrm>
            <a:off x="6172200" y="4983480"/>
            <a:ext cx="2011680" cy="594360"/>
          </a:xfrm>
          <a:prstGeom prst="rect">
            <a:avLst/>
          </a:prstGeom>
          <a:noFill/>
          <a:ln/>
        </p:spPr>
        <p:txBody>
          <a:bodyPr wrap="square" rtlCol="0" anchor="ctr"/>
          <a:lstStyle/>
          <a:p>
            <a:pPr indent="0" marL="0">
              <a:buNone/>
            </a:pPr>
            <a:r>
              <a:rPr lang="en-US" sz="950" dirty="0">
                <a:solidFill>
                  <a:srgbClr val="94A3B8"/>
                </a:solidFill>
              </a:rPr>
              <a:t>Streaming animal personas &amp; conservation facts</a:t>
            </a:r>
            <a:endParaRPr lang="en-US" sz="950" dirty="0"/>
          </a:p>
        </p:txBody>
      </p:sp>
      <p:sp>
        <p:nvSpPr>
          <p:cNvPr id="17" name="Shape 15"/>
          <p:cNvSpPr/>
          <p:nvPr/>
        </p:nvSpPr>
        <p:spPr>
          <a:xfrm>
            <a:off x="8458200" y="4434840"/>
            <a:ext cx="2286000" cy="1234440"/>
          </a:xfrm>
          <a:prstGeom prst="roundRect">
            <a:avLst>
              <a:gd name="adj" fmla="val 11111"/>
            </a:avLst>
          </a:prstGeom>
          <a:solidFill>
            <a:srgbClr val="1E293B"/>
          </a:solidFill>
          <a:ln w="12700">
            <a:solidFill>
              <a:srgbClr val="334155"/>
            </a:solidFill>
            <a:prstDash val="solid"/>
          </a:ln>
        </p:spPr>
      </p:sp>
      <p:sp>
        <p:nvSpPr>
          <p:cNvPr id="18" name="Text 16"/>
          <p:cNvSpPr/>
          <p:nvPr/>
        </p:nvSpPr>
        <p:spPr>
          <a:xfrm>
            <a:off x="8595360" y="4526280"/>
            <a:ext cx="2011680" cy="457200"/>
          </a:xfrm>
          <a:prstGeom prst="rect">
            <a:avLst/>
          </a:prstGeom>
          <a:noFill/>
          <a:ln/>
        </p:spPr>
        <p:txBody>
          <a:bodyPr wrap="square" rtlCol="0" anchor="ctr"/>
          <a:lstStyle/>
          <a:p>
            <a:pPr indent="0" marL="0">
              <a:buNone/>
            </a:pPr>
            <a:r>
              <a:rPr lang="en-US" sz="1100" b="1" dirty="0">
                <a:solidFill>
                  <a:srgbClr val="F8FAFC"/>
                </a:solidFill>
              </a:rPr>
              <a:t>💰 Real-World Impact Treasury</a:t>
            </a:r>
            <a:endParaRPr lang="en-US" sz="1100" dirty="0"/>
          </a:p>
        </p:txBody>
      </p:sp>
      <p:sp>
        <p:nvSpPr>
          <p:cNvPr id="19" name="Text 17"/>
          <p:cNvSpPr/>
          <p:nvPr/>
        </p:nvSpPr>
        <p:spPr>
          <a:xfrm>
            <a:off x="8595360" y="4983480"/>
            <a:ext cx="2011680" cy="594360"/>
          </a:xfrm>
          <a:prstGeom prst="rect">
            <a:avLst/>
          </a:prstGeom>
          <a:noFill/>
          <a:ln/>
        </p:spPr>
        <p:txBody>
          <a:bodyPr wrap="square" rtlCol="0" anchor="ctr"/>
          <a:lstStyle/>
          <a:p>
            <a:pPr indent="0" marL="0">
              <a:buNone/>
            </a:pPr>
            <a:r>
              <a:rPr lang="en-US" sz="950" dirty="0">
                <a:solidFill>
                  <a:srgbClr val="94A3B8"/>
                </a:solidFill>
              </a:rPr>
              <a:t>Sponsored grants funded by in-game progress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31520" y="457200"/>
            <a:ext cx="2011680" cy="320040"/>
          </a:xfrm>
          <a:prstGeom prst="roundRect">
            <a:avLst>
              <a:gd name="adj" fmla="val 42857"/>
            </a:avLst>
          </a:prstGeom>
          <a:solidFill>
            <a:srgbClr val="065F46"/>
          </a:solidFill>
          <a:ln w="12700">
            <a:solidFill>
              <a:srgbClr val="10B981"/>
            </a:solidFill>
            <a:prstDash val="solid"/>
          </a:ln>
        </p:spPr>
      </p:sp>
      <p:sp>
        <p:nvSpPr>
          <p:cNvPr id="3" name="Text 1"/>
          <p:cNvSpPr/>
          <p:nvPr/>
        </p:nvSpPr>
        <p:spPr>
          <a:xfrm>
            <a:off x="731520" y="457200"/>
            <a:ext cx="2011680" cy="320040"/>
          </a:xfrm>
          <a:prstGeom prst="rect">
            <a:avLst/>
          </a:prstGeom>
          <a:noFill/>
          <a:ln/>
        </p:spPr>
        <p:txBody>
          <a:bodyPr wrap="square" rtlCol="0" anchor="ctr"/>
          <a:lstStyle/>
          <a:p>
            <a:pPr algn="ctr" indent="0" marL="0">
              <a:buNone/>
            </a:pPr>
            <a:r>
              <a:rPr lang="en-US" sz="1000" b="1" dirty="0">
                <a:solidFill>
                  <a:srgbClr val="10B981"/>
                </a:solidFill>
              </a:rPr>
              <a:t>THE CHALLENGE</a:t>
            </a:r>
            <a:endParaRPr lang="en-US" sz="1000" dirty="0"/>
          </a:p>
        </p:txBody>
      </p:sp>
      <p:sp>
        <p:nvSpPr>
          <p:cNvPr id="4" name="Text 2"/>
          <p:cNvSpPr/>
          <p:nvPr/>
        </p:nvSpPr>
        <p:spPr>
          <a:xfrm>
            <a:off x="731520" y="868680"/>
            <a:ext cx="10515600" cy="594360"/>
          </a:xfrm>
          <a:prstGeom prst="rect">
            <a:avLst/>
          </a:prstGeom>
          <a:noFill/>
          <a:ln/>
        </p:spPr>
        <p:txBody>
          <a:bodyPr wrap="square" rtlCol="0" anchor="ctr"/>
          <a:lstStyle/>
          <a:p>
            <a:pPr indent="0" marL="0">
              <a:buNone/>
            </a:pPr>
            <a:r>
              <a:rPr lang="en-US" sz="2600" b="1" dirty="0">
                <a:solidFill>
                  <a:srgbClr val="F8FAFC"/>
                </a:solidFill>
                <a:latin typeface="Arial" pitchFamily="34" charset="0"/>
                <a:ea typeface="Arial" pitchFamily="34" charset="-122"/>
                <a:cs typeface="Arial" pitchFamily="34" charset="-120"/>
              </a:rPr>
              <a:t>The Broken Lifeline: Agriculture Under Climate Siege</a:t>
            </a:r>
            <a:endParaRPr lang="en-US" sz="2600" dirty="0"/>
          </a:p>
        </p:txBody>
      </p:sp>
      <p:sp>
        <p:nvSpPr>
          <p:cNvPr id="5" name="Text 3"/>
          <p:cNvSpPr/>
          <p:nvPr/>
        </p:nvSpPr>
        <p:spPr>
          <a:xfrm>
            <a:off x="731520" y="1463040"/>
            <a:ext cx="10515600" cy="36576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Why traditional approaches fail to engage the public and bridge food security with ecological health</a:t>
            </a:r>
            <a:endParaRPr lang="en-US" sz="1300" dirty="0"/>
          </a:p>
        </p:txBody>
      </p:sp>
      <p:sp>
        <p:nvSpPr>
          <p:cNvPr id="6" name="Text 4"/>
          <p:cNvSpPr/>
          <p:nvPr/>
        </p:nvSpPr>
        <p:spPr>
          <a:xfrm>
            <a:off x="731520" y="6400800"/>
            <a:ext cx="8229600" cy="274320"/>
          </a:xfrm>
          <a:prstGeom prst="rect">
            <a:avLst/>
          </a:prstGeom>
          <a:noFill/>
          <a:ln/>
        </p:spPr>
        <p:txBody>
          <a:bodyPr wrap="square" rtlCol="0" anchor="ctr"/>
          <a:lstStyle/>
          <a:p>
            <a:pPr indent="0" marL="0">
              <a:buNone/>
            </a:pPr>
            <a:r>
              <a:rPr lang="en-US" sz="900" dirty="0">
                <a:solidFill>
                  <a:srgbClr val="64748B"/>
                </a:solidFill>
              </a:rPr>
              <a:t>FIELD TO FUTURE: BLOOM  |  Bayer Hackathon Track: Agriculture &amp; Sustainability</a:t>
            </a:r>
            <a:endParaRPr lang="en-US" sz="900" dirty="0"/>
          </a:p>
        </p:txBody>
      </p:sp>
      <p:sp>
        <p:nvSpPr>
          <p:cNvPr id="7" name="Text 5"/>
          <p:cNvSpPr/>
          <p:nvPr/>
        </p:nvSpPr>
        <p:spPr>
          <a:xfrm>
            <a:off x="10515600" y="6400800"/>
            <a:ext cx="914400" cy="274320"/>
          </a:xfrm>
          <a:prstGeom prst="rect">
            <a:avLst/>
          </a:prstGeom>
          <a:noFill/>
          <a:ln/>
        </p:spPr>
        <p:txBody>
          <a:bodyPr wrap="square" rtlCol="0" anchor="ctr"/>
          <a:lstStyle/>
          <a:p>
            <a:pPr algn="r" indent="0" marL="0">
              <a:buNone/>
            </a:pPr>
            <a:r>
              <a:rPr lang="en-US" sz="900" dirty="0">
                <a:solidFill>
                  <a:srgbClr val="64748B"/>
                </a:solidFill>
              </a:rPr>
              <a:t>2 / 12</a:t>
            </a:r>
            <a:endParaRPr lang="en-US" sz="900" dirty="0"/>
          </a:p>
        </p:txBody>
      </p:sp>
      <p:sp>
        <p:nvSpPr>
          <p:cNvPr id="8" name="Shape 6"/>
          <p:cNvSpPr/>
          <p:nvPr/>
        </p:nvSpPr>
        <p:spPr>
          <a:xfrm>
            <a:off x="731520" y="1965960"/>
            <a:ext cx="3429000" cy="4206240"/>
          </a:xfrm>
          <a:prstGeom prst="roundRect">
            <a:avLst>
              <a:gd name="adj" fmla="val 4000"/>
            </a:avLst>
          </a:prstGeom>
          <a:solidFill>
            <a:srgbClr val="1E293B"/>
          </a:solidFill>
          <a:ln w="12700">
            <a:solidFill>
              <a:srgbClr val="334155"/>
            </a:solidFill>
            <a:prstDash val="solid"/>
          </a:ln>
        </p:spPr>
      </p:sp>
      <p:sp>
        <p:nvSpPr>
          <p:cNvPr id="9" name="Shape 7"/>
          <p:cNvSpPr/>
          <p:nvPr/>
        </p:nvSpPr>
        <p:spPr>
          <a:xfrm>
            <a:off x="1005840" y="2194560"/>
            <a:ext cx="1188720" cy="274320"/>
          </a:xfrm>
          <a:prstGeom prst="roundRect">
            <a:avLst>
              <a:gd name="adj" fmla="val 26667"/>
            </a:avLst>
          </a:prstGeom>
          <a:solidFill>
            <a:srgbClr val="3F1D1D"/>
          </a:solidFill>
          <a:ln w="10160">
            <a:solidFill>
              <a:srgbClr val="EF4444"/>
            </a:solidFill>
            <a:prstDash val="solid"/>
          </a:ln>
        </p:spPr>
      </p:sp>
      <p:sp>
        <p:nvSpPr>
          <p:cNvPr id="10" name="Text 8"/>
          <p:cNvSpPr/>
          <p:nvPr/>
        </p:nvSpPr>
        <p:spPr>
          <a:xfrm>
            <a:off x="1005840" y="2194560"/>
            <a:ext cx="1188720" cy="274320"/>
          </a:xfrm>
          <a:prstGeom prst="rect">
            <a:avLst/>
          </a:prstGeom>
          <a:noFill/>
          <a:ln/>
        </p:spPr>
        <p:txBody>
          <a:bodyPr wrap="square" rtlCol="0" anchor="ctr"/>
          <a:lstStyle/>
          <a:p>
            <a:pPr algn="ctr" indent="0" marL="0">
              <a:buNone/>
            </a:pPr>
            <a:r>
              <a:rPr lang="en-US" sz="850" b="1" dirty="0">
                <a:solidFill>
                  <a:srgbClr val="FCA5A5"/>
                </a:solidFill>
              </a:rPr>
              <a:t>CRISIS 01</a:t>
            </a:r>
            <a:endParaRPr lang="en-US" sz="850" dirty="0"/>
          </a:p>
        </p:txBody>
      </p:sp>
      <p:sp>
        <p:nvSpPr>
          <p:cNvPr id="11" name="Text 9"/>
          <p:cNvSpPr/>
          <p:nvPr/>
        </p:nvSpPr>
        <p:spPr>
          <a:xfrm>
            <a:off x="1005840" y="2606040"/>
            <a:ext cx="2880360" cy="548640"/>
          </a:xfrm>
          <a:prstGeom prst="rect">
            <a:avLst/>
          </a:prstGeom>
          <a:noFill/>
          <a:ln/>
        </p:spPr>
        <p:txBody>
          <a:bodyPr wrap="square" rtlCol="0" anchor="ctr"/>
          <a:lstStyle/>
          <a:p>
            <a:pPr indent="0" marL="0">
              <a:buNone/>
            </a:pPr>
            <a:r>
              <a:rPr lang="en-US" sz="1500" b="1" dirty="0">
                <a:solidFill>
                  <a:srgbClr val="F8FAFC"/>
                </a:solidFill>
              </a:rPr>
              <a:t>Cascading Biome Collapses</a:t>
            </a:r>
            <a:endParaRPr lang="en-US" sz="1500" dirty="0"/>
          </a:p>
        </p:txBody>
      </p:sp>
      <p:sp>
        <p:nvSpPr>
          <p:cNvPr id="12" name="Text 10"/>
          <p:cNvSpPr/>
          <p:nvPr/>
        </p:nvSpPr>
        <p:spPr>
          <a:xfrm>
            <a:off x="1005840" y="3246120"/>
            <a:ext cx="2880360" cy="594360"/>
          </a:xfrm>
          <a:prstGeom prst="rect">
            <a:avLst/>
          </a:prstGeom>
          <a:noFill/>
          <a:ln/>
        </p:spPr>
        <p:txBody>
          <a:bodyPr wrap="square" rtlCol="0" anchor="ctr"/>
          <a:lstStyle/>
          <a:p>
            <a:pPr indent="0" marL="0">
              <a:buNone/>
            </a:pPr>
            <a:r>
              <a:rPr lang="en-US" sz="2800" b="1" dirty="0">
                <a:solidFill>
                  <a:srgbClr val="F59E0B"/>
                </a:solidFill>
              </a:rPr>
              <a:t>3.2 Billion</a:t>
            </a:r>
            <a:endParaRPr lang="en-US" sz="2800" dirty="0"/>
          </a:p>
        </p:txBody>
      </p:sp>
      <p:sp>
        <p:nvSpPr>
          <p:cNvPr id="13" name="Text 11"/>
          <p:cNvSpPr/>
          <p:nvPr/>
        </p:nvSpPr>
        <p:spPr>
          <a:xfrm>
            <a:off x="1005840" y="3794760"/>
            <a:ext cx="2880360" cy="411480"/>
          </a:xfrm>
          <a:prstGeom prst="rect">
            <a:avLst/>
          </a:prstGeom>
          <a:noFill/>
          <a:ln/>
        </p:spPr>
        <p:txBody>
          <a:bodyPr wrap="square" rtlCol="0" anchor="ctr"/>
          <a:lstStyle/>
          <a:p>
            <a:pPr indent="0" marL="0">
              <a:buNone/>
            </a:pPr>
            <a:r>
              <a:rPr lang="en-US" sz="950" dirty="0">
                <a:solidFill>
                  <a:srgbClr val="94A3B8"/>
                </a:solidFill>
              </a:rPr>
              <a:t>People affected by land degradation</a:t>
            </a:r>
            <a:endParaRPr lang="en-US" sz="950" dirty="0"/>
          </a:p>
        </p:txBody>
      </p:sp>
      <p:sp>
        <p:nvSpPr>
          <p:cNvPr id="14" name="Text 12"/>
          <p:cNvSpPr/>
          <p:nvPr/>
        </p:nvSpPr>
        <p:spPr>
          <a:xfrm>
            <a:off x="1005840" y="4343400"/>
            <a:ext cx="2880360" cy="1600200"/>
          </a:xfrm>
          <a:prstGeom prst="rect">
            <a:avLst/>
          </a:prstGeom>
          <a:noFill/>
          <a:ln/>
        </p:spPr>
        <p:txBody>
          <a:bodyPr wrap="square" rtlCol="0" anchor="ctr"/>
          <a:lstStyle/>
          <a:p>
            <a:pPr indent="0" marL="0">
              <a:lnSpc>
                <a:spcPts val="1800"/>
              </a:lnSpc>
              <a:buNone/>
            </a:pPr>
            <a:r>
              <a:rPr lang="en-US" sz="1050" dirty="0">
                <a:solidFill>
                  <a:srgbClr val="94A3B8"/>
                </a:solidFill>
              </a:rPr>
              <a:t>Wildfires, agricultural runoff, microplastics, and groundwater exhaustion are not isolated. They bleed directly into farmlands, choking irrigation pumps and decimating vital pollinators.</a:t>
            </a:r>
            <a:endParaRPr lang="en-US" sz="1050" dirty="0"/>
          </a:p>
        </p:txBody>
      </p:sp>
      <p:sp>
        <p:nvSpPr>
          <p:cNvPr id="15" name="Shape 13"/>
          <p:cNvSpPr/>
          <p:nvPr/>
        </p:nvSpPr>
        <p:spPr>
          <a:xfrm>
            <a:off x="4343400" y="1965960"/>
            <a:ext cx="3429000" cy="4206240"/>
          </a:xfrm>
          <a:prstGeom prst="roundRect">
            <a:avLst>
              <a:gd name="adj" fmla="val 4000"/>
            </a:avLst>
          </a:prstGeom>
          <a:solidFill>
            <a:srgbClr val="1E293B"/>
          </a:solidFill>
          <a:ln w="12700">
            <a:solidFill>
              <a:srgbClr val="334155"/>
            </a:solidFill>
            <a:prstDash val="solid"/>
          </a:ln>
        </p:spPr>
      </p:sp>
      <p:sp>
        <p:nvSpPr>
          <p:cNvPr id="16" name="Shape 14"/>
          <p:cNvSpPr/>
          <p:nvPr/>
        </p:nvSpPr>
        <p:spPr>
          <a:xfrm>
            <a:off x="4617720" y="2194560"/>
            <a:ext cx="1188720" cy="274320"/>
          </a:xfrm>
          <a:prstGeom prst="roundRect">
            <a:avLst>
              <a:gd name="adj" fmla="val 26667"/>
            </a:avLst>
          </a:prstGeom>
          <a:solidFill>
            <a:srgbClr val="3F1D1D"/>
          </a:solidFill>
          <a:ln w="10160">
            <a:solidFill>
              <a:srgbClr val="EF4444"/>
            </a:solidFill>
            <a:prstDash val="solid"/>
          </a:ln>
        </p:spPr>
      </p:sp>
      <p:sp>
        <p:nvSpPr>
          <p:cNvPr id="17" name="Text 15"/>
          <p:cNvSpPr/>
          <p:nvPr/>
        </p:nvSpPr>
        <p:spPr>
          <a:xfrm>
            <a:off x="4617720" y="2194560"/>
            <a:ext cx="1188720" cy="274320"/>
          </a:xfrm>
          <a:prstGeom prst="rect">
            <a:avLst/>
          </a:prstGeom>
          <a:noFill/>
          <a:ln/>
        </p:spPr>
        <p:txBody>
          <a:bodyPr wrap="square" rtlCol="0" anchor="ctr"/>
          <a:lstStyle/>
          <a:p>
            <a:pPr algn="ctr" indent="0" marL="0">
              <a:buNone/>
            </a:pPr>
            <a:r>
              <a:rPr lang="en-US" sz="850" b="1" dirty="0">
                <a:solidFill>
                  <a:srgbClr val="FCA5A5"/>
                </a:solidFill>
              </a:rPr>
              <a:t>CRISIS 02</a:t>
            </a:r>
            <a:endParaRPr lang="en-US" sz="850" dirty="0"/>
          </a:p>
        </p:txBody>
      </p:sp>
      <p:sp>
        <p:nvSpPr>
          <p:cNvPr id="18" name="Text 16"/>
          <p:cNvSpPr/>
          <p:nvPr/>
        </p:nvSpPr>
        <p:spPr>
          <a:xfrm>
            <a:off x="4617720" y="2606040"/>
            <a:ext cx="2880360" cy="548640"/>
          </a:xfrm>
          <a:prstGeom prst="rect">
            <a:avLst/>
          </a:prstGeom>
          <a:noFill/>
          <a:ln/>
        </p:spPr>
        <p:txBody>
          <a:bodyPr wrap="square" rtlCol="0" anchor="ctr"/>
          <a:lstStyle/>
          <a:p>
            <a:pPr indent="0" marL="0">
              <a:buNone/>
            </a:pPr>
            <a:r>
              <a:rPr lang="en-US" sz="1500" b="1" dirty="0">
                <a:solidFill>
                  <a:srgbClr val="F8FAFC"/>
                </a:solidFill>
              </a:rPr>
              <a:t>The "Yield vs. Nature" Fallacy</a:t>
            </a:r>
            <a:endParaRPr lang="en-US" sz="1500" dirty="0"/>
          </a:p>
        </p:txBody>
      </p:sp>
      <p:sp>
        <p:nvSpPr>
          <p:cNvPr id="19" name="Text 17"/>
          <p:cNvSpPr/>
          <p:nvPr/>
        </p:nvSpPr>
        <p:spPr>
          <a:xfrm>
            <a:off x="4617720" y="3246120"/>
            <a:ext cx="2880360" cy="594360"/>
          </a:xfrm>
          <a:prstGeom prst="rect">
            <a:avLst/>
          </a:prstGeom>
          <a:noFill/>
          <a:ln/>
        </p:spPr>
        <p:txBody>
          <a:bodyPr wrap="square" rtlCol="0" anchor="ctr"/>
          <a:lstStyle/>
          <a:p>
            <a:pPr indent="0" marL="0">
              <a:buNone/>
            </a:pPr>
            <a:r>
              <a:rPr lang="en-US" sz="2800" b="1" dirty="0">
                <a:solidFill>
                  <a:srgbClr val="F59E0B"/>
                </a:solidFill>
              </a:rPr>
              <a:t>60% Decline</a:t>
            </a:r>
            <a:endParaRPr lang="en-US" sz="2800" dirty="0"/>
          </a:p>
        </p:txBody>
      </p:sp>
      <p:sp>
        <p:nvSpPr>
          <p:cNvPr id="20" name="Text 18"/>
          <p:cNvSpPr/>
          <p:nvPr/>
        </p:nvSpPr>
        <p:spPr>
          <a:xfrm>
            <a:off x="4617720" y="3794760"/>
            <a:ext cx="2880360" cy="411480"/>
          </a:xfrm>
          <a:prstGeom prst="rect">
            <a:avLst/>
          </a:prstGeom>
          <a:noFill/>
          <a:ln/>
        </p:spPr>
        <p:txBody>
          <a:bodyPr wrap="square" rtlCol="0" anchor="ctr"/>
          <a:lstStyle/>
          <a:p>
            <a:pPr indent="0" marL="0">
              <a:buNone/>
            </a:pPr>
            <a:r>
              <a:rPr lang="en-US" sz="950" dirty="0">
                <a:solidFill>
                  <a:srgbClr val="94A3B8"/>
                </a:solidFill>
              </a:rPr>
              <a:t>In insect &amp; monarch populations</a:t>
            </a:r>
            <a:endParaRPr lang="en-US" sz="950" dirty="0"/>
          </a:p>
        </p:txBody>
      </p:sp>
      <p:sp>
        <p:nvSpPr>
          <p:cNvPr id="21" name="Text 19"/>
          <p:cNvSpPr/>
          <p:nvPr/>
        </p:nvSpPr>
        <p:spPr>
          <a:xfrm>
            <a:off x="4617720" y="4343400"/>
            <a:ext cx="2880360" cy="1600200"/>
          </a:xfrm>
          <a:prstGeom prst="rect">
            <a:avLst/>
          </a:prstGeom>
          <a:noFill/>
          <a:ln/>
        </p:spPr>
        <p:txBody>
          <a:bodyPr wrap="square" rtlCol="0" anchor="ctr"/>
          <a:lstStyle/>
          <a:p>
            <a:pPr indent="0" marL="0">
              <a:lnSpc>
                <a:spcPts val="1800"/>
              </a:lnSpc>
              <a:buNone/>
            </a:pPr>
            <a:r>
              <a:rPr lang="en-US" sz="1050" dirty="0">
                <a:solidFill>
                  <a:srgbClr val="94A3B8"/>
                </a:solidFill>
              </a:rPr>
              <a:t>A widespread misconception claims farmers must choose between high crop yields and ecological stewardship. In reality, degraded soil and lost pollinators actively threaten global food security.</a:t>
            </a:r>
            <a:endParaRPr lang="en-US" sz="1050" dirty="0"/>
          </a:p>
        </p:txBody>
      </p:sp>
      <p:sp>
        <p:nvSpPr>
          <p:cNvPr id="22" name="Shape 20"/>
          <p:cNvSpPr/>
          <p:nvPr/>
        </p:nvSpPr>
        <p:spPr>
          <a:xfrm>
            <a:off x="7955280" y="1965960"/>
            <a:ext cx="3429000" cy="4206240"/>
          </a:xfrm>
          <a:prstGeom prst="roundRect">
            <a:avLst>
              <a:gd name="adj" fmla="val 4000"/>
            </a:avLst>
          </a:prstGeom>
          <a:solidFill>
            <a:srgbClr val="1E293B"/>
          </a:solidFill>
          <a:ln w="12700">
            <a:solidFill>
              <a:srgbClr val="334155"/>
            </a:solidFill>
            <a:prstDash val="solid"/>
          </a:ln>
        </p:spPr>
      </p:sp>
      <p:sp>
        <p:nvSpPr>
          <p:cNvPr id="23" name="Shape 21"/>
          <p:cNvSpPr/>
          <p:nvPr/>
        </p:nvSpPr>
        <p:spPr>
          <a:xfrm>
            <a:off x="8229600" y="2194560"/>
            <a:ext cx="1188720" cy="274320"/>
          </a:xfrm>
          <a:prstGeom prst="roundRect">
            <a:avLst>
              <a:gd name="adj" fmla="val 26667"/>
            </a:avLst>
          </a:prstGeom>
          <a:solidFill>
            <a:srgbClr val="3F1D1D"/>
          </a:solidFill>
          <a:ln w="10160">
            <a:solidFill>
              <a:srgbClr val="EF4444"/>
            </a:solidFill>
            <a:prstDash val="solid"/>
          </a:ln>
        </p:spPr>
      </p:sp>
      <p:sp>
        <p:nvSpPr>
          <p:cNvPr id="24" name="Text 22"/>
          <p:cNvSpPr/>
          <p:nvPr/>
        </p:nvSpPr>
        <p:spPr>
          <a:xfrm>
            <a:off x="8229600" y="2194560"/>
            <a:ext cx="1188720" cy="274320"/>
          </a:xfrm>
          <a:prstGeom prst="rect">
            <a:avLst/>
          </a:prstGeom>
          <a:noFill/>
          <a:ln/>
        </p:spPr>
        <p:txBody>
          <a:bodyPr wrap="square" rtlCol="0" anchor="ctr"/>
          <a:lstStyle/>
          <a:p>
            <a:pPr algn="ctr" indent="0" marL="0">
              <a:buNone/>
            </a:pPr>
            <a:r>
              <a:rPr lang="en-US" sz="850" b="1" dirty="0">
                <a:solidFill>
                  <a:srgbClr val="FCA5A5"/>
                </a:solidFill>
              </a:rPr>
              <a:t>CRISIS 03</a:t>
            </a:r>
            <a:endParaRPr lang="en-US" sz="850" dirty="0"/>
          </a:p>
        </p:txBody>
      </p:sp>
      <p:sp>
        <p:nvSpPr>
          <p:cNvPr id="25" name="Text 23"/>
          <p:cNvSpPr/>
          <p:nvPr/>
        </p:nvSpPr>
        <p:spPr>
          <a:xfrm>
            <a:off x="8229600" y="2606040"/>
            <a:ext cx="2880360" cy="548640"/>
          </a:xfrm>
          <a:prstGeom prst="rect">
            <a:avLst/>
          </a:prstGeom>
          <a:noFill/>
          <a:ln/>
        </p:spPr>
        <p:txBody>
          <a:bodyPr wrap="square" rtlCol="0" anchor="ctr"/>
          <a:lstStyle/>
          <a:p>
            <a:pPr indent="0" marL="0">
              <a:buNone/>
            </a:pPr>
            <a:r>
              <a:rPr lang="en-US" sz="1500" b="1" dirty="0">
                <a:solidFill>
                  <a:srgbClr val="F8FAFC"/>
                </a:solidFill>
              </a:rPr>
              <a:t>Passive Climate Despair</a:t>
            </a:r>
            <a:endParaRPr lang="en-US" sz="1500" dirty="0"/>
          </a:p>
        </p:txBody>
      </p:sp>
      <p:sp>
        <p:nvSpPr>
          <p:cNvPr id="26" name="Text 24"/>
          <p:cNvSpPr/>
          <p:nvPr/>
        </p:nvSpPr>
        <p:spPr>
          <a:xfrm>
            <a:off x="8229600" y="3246120"/>
            <a:ext cx="2880360" cy="594360"/>
          </a:xfrm>
          <a:prstGeom prst="rect">
            <a:avLst/>
          </a:prstGeom>
          <a:noFill/>
          <a:ln/>
        </p:spPr>
        <p:txBody>
          <a:bodyPr wrap="square" rtlCol="0" anchor="ctr"/>
          <a:lstStyle/>
          <a:p>
            <a:pPr indent="0" marL="0">
              <a:buNone/>
            </a:pPr>
            <a:r>
              <a:rPr lang="en-US" sz="2800" b="1" dirty="0">
                <a:solidFill>
                  <a:srgbClr val="F59E0B"/>
                </a:solidFill>
              </a:rPr>
              <a:t>74%</a:t>
            </a:r>
            <a:endParaRPr lang="en-US" sz="2800" dirty="0"/>
          </a:p>
        </p:txBody>
      </p:sp>
      <p:sp>
        <p:nvSpPr>
          <p:cNvPr id="27" name="Text 25"/>
          <p:cNvSpPr/>
          <p:nvPr/>
        </p:nvSpPr>
        <p:spPr>
          <a:xfrm>
            <a:off x="8229600" y="3794760"/>
            <a:ext cx="2880360" cy="411480"/>
          </a:xfrm>
          <a:prstGeom prst="rect">
            <a:avLst/>
          </a:prstGeom>
          <a:noFill/>
          <a:ln/>
        </p:spPr>
        <p:txBody>
          <a:bodyPr wrap="square" rtlCol="0" anchor="ctr"/>
          <a:lstStyle/>
          <a:p>
            <a:pPr indent="0" marL="0">
              <a:buNone/>
            </a:pPr>
            <a:r>
              <a:rPr lang="en-US" sz="950" dirty="0">
                <a:solidFill>
                  <a:srgbClr val="94A3B8"/>
                </a:solidFill>
              </a:rPr>
              <a:t>Of youth report eco-anxiety &amp; helplessness</a:t>
            </a:r>
            <a:endParaRPr lang="en-US" sz="950" dirty="0"/>
          </a:p>
        </p:txBody>
      </p:sp>
      <p:sp>
        <p:nvSpPr>
          <p:cNvPr id="28" name="Text 26"/>
          <p:cNvSpPr/>
          <p:nvPr/>
        </p:nvSpPr>
        <p:spPr>
          <a:xfrm>
            <a:off x="8229600" y="4343400"/>
            <a:ext cx="2880360" cy="1600200"/>
          </a:xfrm>
          <a:prstGeom prst="rect">
            <a:avLst/>
          </a:prstGeom>
          <a:noFill/>
          <a:ln/>
        </p:spPr>
        <p:txBody>
          <a:bodyPr wrap="square" rtlCol="0" anchor="ctr"/>
          <a:lstStyle/>
          <a:p>
            <a:pPr indent="0" marL="0">
              <a:lnSpc>
                <a:spcPts val="1800"/>
              </a:lnSpc>
              <a:buNone/>
            </a:pPr>
            <a:r>
              <a:rPr lang="en-US" sz="1050" dirty="0">
                <a:solidFill>
                  <a:srgbClr val="94A3B8"/>
                </a:solidFill>
              </a:rPr>
              <a:t>Current climate apps offer static statistics and guilty carbon footprint calculators. Users feel powerless, disengaged, and lack a joyful, empowering mechanism to take meaningful civic action.</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31520" y="457200"/>
            <a:ext cx="2011680" cy="320040"/>
          </a:xfrm>
          <a:prstGeom prst="roundRect">
            <a:avLst>
              <a:gd name="adj" fmla="val 42857"/>
            </a:avLst>
          </a:prstGeom>
          <a:solidFill>
            <a:srgbClr val="065F46"/>
          </a:solidFill>
          <a:ln w="12700">
            <a:solidFill>
              <a:srgbClr val="10B981"/>
            </a:solidFill>
            <a:prstDash val="solid"/>
          </a:ln>
        </p:spPr>
      </p:sp>
      <p:sp>
        <p:nvSpPr>
          <p:cNvPr id="3" name="Text 1"/>
          <p:cNvSpPr/>
          <p:nvPr/>
        </p:nvSpPr>
        <p:spPr>
          <a:xfrm>
            <a:off x="731520" y="457200"/>
            <a:ext cx="2011680" cy="320040"/>
          </a:xfrm>
          <a:prstGeom prst="rect">
            <a:avLst/>
          </a:prstGeom>
          <a:noFill/>
          <a:ln/>
        </p:spPr>
        <p:txBody>
          <a:bodyPr wrap="square" rtlCol="0" anchor="ctr"/>
          <a:lstStyle/>
          <a:p>
            <a:pPr algn="ctr" indent="0" marL="0">
              <a:buNone/>
            </a:pPr>
            <a:r>
              <a:rPr lang="en-US" sz="1000" b="1" dirty="0">
                <a:solidFill>
                  <a:srgbClr val="10B981"/>
                </a:solidFill>
              </a:rPr>
              <a:t>CORE INNOVATION</a:t>
            </a:r>
            <a:endParaRPr lang="en-US" sz="1000" dirty="0"/>
          </a:p>
        </p:txBody>
      </p:sp>
      <p:sp>
        <p:nvSpPr>
          <p:cNvPr id="4" name="Text 2"/>
          <p:cNvSpPr/>
          <p:nvPr/>
        </p:nvSpPr>
        <p:spPr>
          <a:xfrm>
            <a:off x="731520" y="868680"/>
            <a:ext cx="10515600" cy="594360"/>
          </a:xfrm>
          <a:prstGeom prst="rect">
            <a:avLst/>
          </a:prstGeom>
          <a:noFill/>
          <a:ln/>
        </p:spPr>
        <p:txBody>
          <a:bodyPr wrap="square" rtlCol="0" anchor="ctr"/>
          <a:lstStyle/>
          <a:p>
            <a:pPr indent="0" marL="0">
              <a:buNone/>
            </a:pPr>
            <a:r>
              <a:rPr lang="en-US" sz="2600" b="1" dirty="0">
                <a:solidFill>
                  <a:srgbClr val="F8FAFC"/>
                </a:solidFill>
                <a:latin typeface="Arial" pitchFamily="34" charset="0"/>
                <a:ea typeface="Arial" pitchFamily="34" charset="-122"/>
                <a:cs typeface="Arial" pitchFamily="34" charset="-120"/>
              </a:rPr>
              <a:t>The Solution: A Living Restoration RPG &amp; Impact Loop</a:t>
            </a:r>
            <a:endParaRPr lang="en-US" sz="2600" dirty="0"/>
          </a:p>
        </p:txBody>
      </p:sp>
      <p:sp>
        <p:nvSpPr>
          <p:cNvPr id="5" name="Text 3"/>
          <p:cNvSpPr/>
          <p:nvPr/>
        </p:nvSpPr>
        <p:spPr>
          <a:xfrm>
            <a:off x="731520" y="1463040"/>
            <a:ext cx="10515600" cy="36576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Connecting hands-on digital agency with tangible planetary restoration</a:t>
            </a:r>
            <a:endParaRPr lang="en-US" sz="1300" dirty="0"/>
          </a:p>
        </p:txBody>
      </p:sp>
      <p:sp>
        <p:nvSpPr>
          <p:cNvPr id="6" name="Text 4"/>
          <p:cNvSpPr/>
          <p:nvPr/>
        </p:nvSpPr>
        <p:spPr>
          <a:xfrm>
            <a:off x="731520" y="6400800"/>
            <a:ext cx="8229600" cy="274320"/>
          </a:xfrm>
          <a:prstGeom prst="rect">
            <a:avLst/>
          </a:prstGeom>
          <a:noFill/>
          <a:ln/>
        </p:spPr>
        <p:txBody>
          <a:bodyPr wrap="square" rtlCol="0" anchor="ctr"/>
          <a:lstStyle/>
          <a:p>
            <a:pPr indent="0" marL="0">
              <a:buNone/>
            </a:pPr>
            <a:r>
              <a:rPr lang="en-US" sz="900" dirty="0">
                <a:solidFill>
                  <a:srgbClr val="64748B"/>
                </a:solidFill>
              </a:rPr>
              <a:t>FIELD TO FUTURE: BLOOM  |  Bayer Hackathon Track: Agriculture &amp; Sustainability</a:t>
            </a:r>
            <a:endParaRPr lang="en-US" sz="900" dirty="0"/>
          </a:p>
        </p:txBody>
      </p:sp>
      <p:sp>
        <p:nvSpPr>
          <p:cNvPr id="7" name="Text 5"/>
          <p:cNvSpPr/>
          <p:nvPr/>
        </p:nvSpPr>
        <p:spPr>
          <a:xfrm>
            <a:off x="10515600" y="6400800"/>
            <a:ext cx="914400" cy="274320"/>
          </a:xfrm>
          <a:prstGeom prst="rect">
            <a:avLst/>
          </a:prstGeom>
          <a:noFill/>
          <a:ln/>
        </p:spPr>
        <p:txBody>
          <a:bodyPr wrap="square" rtlCol="0" anchor="ctr"/>
          <a:lstStyle/>
          <a:p>
            <a:pPr algn="r" indent="0" marL="0">
              <a:buNone/>
            </a:pPr>
            <a:r>
              <a:rPr lang="en-US" sz="900" dirty="0">
                <a:solidFill>
                  <a:srgbClr val="64748B"/>
                </a:solidFill>
              </a:rPr>
              <a:t>3 / 12</a:t>
            </a:r>
            <a:endParaRPr lang="en-US" sz="900" dirty="0"/>
          </a:p>
        </p:txBody>
      </p:sp>
      <p:sp>
        <p:nvSpPr>
          <p:cNvPr id="8" name="Shape 6"/>
          <p:cNvSpPr/>
          <p:nvPr/>
        </p:nvSpPr>
        <p:spPr>
          <a:xfrm>
            <a:off x="731520" y="1965960"/>
            <a:ext cx="5257800" cy="4206240"/>
          </a:xfrm>
          <a:prstGeom prst="roundRect">
            <a:avLst>
              <a:gd name="adj" fmla="val 3261"/>
            </a:avLst>
          </a:prstGeom>
          <a:solidFill>
            <a:srgbClr val="1E293B"/>
          </a:solidFill>
          <a:ln w="12700">
            <a:solidFill>
              <a:srgbClr val="334155"/>
            </a:solidFill>
            <a:prstDash val="solid"/>
          </a:ln>
        </p:spPr>
      </p:sp>
      <p:sp>
        <p:nvSpPr>
          <p:cNvPr id="9" name="Text 7"/>
          <p:cNvSpPr/>
          <p:nvPr/>
        </p:nvSpPr>
        <p:spPr>
          <a:xfrm>
            <a:off x="1005840" y="2148840"/>
            <a:ext cx="4709160" cy="274320"/>
          </a:xfrm>
          <a:prstGeom prst="rect">
            <a:avLst/>
          </a:prstGeom>
          <a:noFill/>
          <a:ln/>
        </p:spPr>
        <p:txBody>
          <a:bodyPr wrap="square" rtlCol="0" anchor="ctr"/>
          <a:lstStyle/>
          <a:p>
            <a:pPr indent="0" marL="0">
              <a:buNone/>
            </a:pPr>
            <a:r>
              <a:rPr lang="en-US" sz="1000" b="1" spc="200" kern="0" dirty="0">
                <a:solidFill>
                  <a:srgbClr val="10B981"/>
                </a:solidFill>
              </a:rPr>
              <a:t>THE GAME EXPERIENCE</a:t>
            </a:r>
            <a:endParaRPr lang="en-US" sz="1000" dirty="0"/>
          </a:p>
        </p:txBody>
      </p:sp>
      <p:sp>
        <p:nvSpPr>
          <p:cNvPr id="10" name="Text 8"/>
          <p:cNvSpPr/>
          <p:nvPr/>
        </p:nvSpPr>
        <p:spPr>
          <a:xfrm>
            <a:off x="1005840" y="2468880"/>
            <a:ext cx="4709160" cy="502920"/>
          </a:xfrm>
          <a:prstGeom prst="rect">
            <a:avLst/>
          </a:prstGeom>
          <a:noFill/>
          <a:ln/>
        </p:spPr>
        <p:txBody>
          <a:bodyPr wrap="square" rtlCol="0" anchor="ctr"/>
          <a:lstStyle/>
          <a:p>
            <a:pPr indent="0" marL="0">
              <a:buNone/>
            </a:pPr>
            <a:r>
              <a:rPr lang="en-US" sz="1600" b="1" dirty="0">
                <a:solidFill>
                  <a:srgbClr val="F8FAFC"/>
                </a:solidFill>
              </a:rPr>
              <a:t>Dynamic Visual Transformation (0% → 100%)</a:t>
            </a:r>
            <a:endParaRPr lang="en-US" sz="1600" dirty="0"/>
          </a:p>
        </p:txBody>
      </p:sp>
      <p:sp>
        <p:nvSpPr>
          <p:cNvPr id="11" name="Text 9"/>
          <p:cNvSpPr/>
          <p:nvPr/>
        </p:nvSpPr>
        <p:spPr>
          <a:xfrm>
            <a:off x="1005840" y="3063240"/>
            <a:ext cx="4709160" cy="640080"/>
          </a:xfrm>
          <a:prstGeom prst="rect">
            <a:avLst/>
          </a:prstGeom>
          <a:noFill/>
          <a:ln/>
        </p:spPr>
        <p:txBody>
          <a:bodyPr wrap="square" rtlCol="0" anchor="ctr"/>
          <a:lstStyle/>
          <a:p>
            <a:pPr indent="0" marL="0">
              <a:lnSpc>
                <a:spcPts val="1600"/>
              </a:lnSpc>
              <a:buNone/>
            </a:pPr>
            <a:r>
              <a:rPr lang="en-US" sz="1050" dirty="0">
                <a:solidFill>
                  <a:srgbClr val="94A3B8"/>
                </a:solidFill>
              </a:rPr>
              <a:t>1. Start at the Central Eco-Farm: 6 crops are withered and dying from surrounding environmental disasters.</a:t>
            </a:r>
            <a:endParaRPr lang="en-US" sz="1050" dirty="0"/>
          </a:p>
        </p:txBody>
      </p:sp>
      <p:sp>
        <p:nvSpPr>
          <p:cNvPr id="12" name="Text 10"/>
          <p:cNvSpPr/>
          <p:nvPr/>
        </p:nvSpPr>
        <p:spPr>
          <a:xfrm>
            <a:off x="1005840" y="3749040"/>
            <a:ext cx="4709160" cy="640080"/>
          </a:xfrm>
          <a:prstGeom prst="rect">
            <a:avLst/>
          </a:prstGeom>
          <a:noFill/>
          <a:ln/>
        </p:spPr>
        <p:txBody>
          <a:bodyPr wrap="square" rtlCol="0" anchor="ctr"/>
          <a:lstStyle/>
          <a:p>
            <a:pPr indent="0" marL="0">
              <a:lnSpc>
                <a:spcPts val="1600"/>
              </a:lnSpc>
              <a:buNone/>
            </a:pPr>
            <a:r>
              <a:rPr lang="en-US" sz="1050" dirty="0">
                <a:solidFill>
                  <a:srgbClr val="94A3B8"/>
                </a:solidFill>
              </a:rPr>
              <a:t>2. Explore 7 Interconnected Biomes: Journey through 3200x2400 terrain encountering endangered wildlife personas.</a:t>
            </a:r>
            <a:endParaRPr lang="en-US" sz="1050" dirty="0"/>
          </a:p>
        </p:txBody>
      </p:sp>
      <p:sp>
        <p:nvSpPr>
          <p:cNvPr id="13" name="Text 11"/>
          <p:cNvSpPr/>
          <p:nvPr/>
        </p:nvSpPr>
        <p:spPr>
          <a:xfrm>
            <a:off x="1005840" y="4434840"/>
            <a:ext cx="4709160" cy="640080"/>
          </a:xfrm>
          <a:prstGeom prst="rect">
            <a:avLst/>
          </a:prstGeom>
          <a:noFill/>
          <a:ln/>
        </p:spPr>
        <p:txBody>
          <a:bodyPr wrap="square" rtlCol="0" anchor="ctr"/>
          <a:lstStyle/>
          <a:p>
            <a:pPr indent="0" marL="0">
              <a:lnSpc>
                <a:spcPts val="1600"/>
              </a:lnSpc>
              <a:buNone/>
            </a:pPr>
            <a:r>
              <a:rPr lang="en-US" sz="1050" dirty="0">
                <a:solidFill>
                  <a:srgbClr val="94A3B8"/>
                </a:solidFill>
              </a:rPr>
              <a:t>3. Interactive Minigames: Solve circular recycling puzzles, quench active wildfire hotspots, divert boat shipping lanes.</a:t>
            </a:r>
            <a:endParaRPr lang="en-US" sz="1050" dirty="0"/>
          </a:p>
        </p:txBody>
      </p:sp>
      <p:sp>
        <p:nvSpPr>
          <p:cNvPr id="14" name="Text 12"/>
          <p:cNvSpPr/>
          <p:nvPr/>
        </p:nvSpPr>
        <p:spPr>
          <a:xfrm>
            <a:off x="1005840" y="5120640"/>
            <a:ext cx="4709160" cy="640080"/>
          </a:xfrm>
          <a:prstGeom prst="rect">
            <a:avLst/>
          </a:prstGeom>
          <a:noFill/>
          <a:ln/>
        </p:spPr>
        <p:txBody>
          <a:bodyPr wrap="square" rtlCol="0" anchor="ctr"/>
          <a:lstStyle/>
          <a:p>
            <a:pPr indent="0" marL="0">
              <a:lnSpc>
                <a:spcPts val="1600"/>
              </a:lnSpc>
              <a:buNone/>
            </a:pPr>
            <a:r>
              <a:rPr lang="en-US" sz="1050" dirty="0">
                <a:solidFill>
                  <a:srgbClr val="94A3B8"/>
                </a:solidFill>
              </a:rPr>
              <a:t>4. Dynamic WebGL Flourish Shader: The world physically shifts from desaturated ash &amp; embers into vibrant 60 FPS HDR greens and blooming flora.</a:t>
            </a:r>
            <a:endParaRPr lang="en-US" sz="1050" dirty="0"/>
          </a:p>
        </p:txBody>
      </p:sp>
      <p:sp>
        <p:nvSpPr>
          <p:cNvPr id="15" name="Shape 13"/>
          <p:cNvSpPr/>
          <p:nvPr/>
        </p:nvSpPr>
        <p:spPr>
          <a:xfrm>
            <a:off x="6172200" y="1965960"/>
            <a:ext cx="5257800" cy="4206240"/>
          </a:xfrm>
          <a:prstGeom prst="roundRect">
            <a:avLst>
              <a:gd name="adj" fmla="val 3261"/>
            </a:avLst>
          </a:prstGeom>
          <a:solidFill>
            <a:srgbClr val="1E293B"/>
          </a:solidFill>
          <a:ln w="12700">
            <a:solidFill>
              <a:srgbClr val="334155"/>
            </a:solidFill>
            <a:prstDash val="solid"/>
          </a:ln>
        </p:spPr>
      </p:sp>
      <p:sp>
        <p:nvSpPr>
          <p:cNvPr id="16" name="Text 14"/>
          <p:cNvSpPr/>
          <p:nvPr/>
        </p:nvSpPr>
        <p:spPr>
          <a:xfrm>
            <a:off x="6446520" y="2148840"/>
            <a:ext cx="4709160" cy="274320"/>
          </a:xfrm>
          <a:prstGeom prst="rect">
            <a:avLst/>
          </a:prstGeom>
          <a:noFill/>
          <a:ln/>
        </p:spPr>
        <p:txBody>
          <a:bodyPr wrap="square" rtlCol="0" anchor="ctr"/>
          <a:lstStyle/>
          <a:p>
            <a:pPr indent="0" marL="0">
              <a:buNone/>
            </a:pPr>
            <a:r>
              <a:rPr lang="en-US" sz="1000" b="1" spc="200" kern="0" dirty="0">
                <a:solidFill>
                  <a:srgbClr val="F59E0B"/>
                </a:solidFill>
              </a:rPr>
              <a:t>REAL-WORLD VALUE LOOP</a:t>
            </a:r>
            <a:endParaRPr lang="en-US" sz="1000" dirty="0"/>
          </a:p>
        </p:txBody>
      </p:sp>
      <p:sp>
        <p:nvSpPr>
          <p:cNvPr id="17" name="Text 15"/>
          <p:cNvSpPr/>
          <p:nvPr/>
        </p:nvSpPr>
        <p:spPr>
          <a:xfrm>
            <a:off x="6446520" y="2468880"/>
            <a:ext cx="4709160" cy="502920"/>
          </a:xfrm>
          <a:prstGeom prst="rect">
            <a:avLst/>
          </a:prstGeom>
          <a:noFill/>
          <a:ln/>
        </p:spPr>
        <p:txBody>
          <a:bodyPr wrap="square" rtlCol="0" anchor="ctr"/>
          <a:lstStyle/>
          <a:p>
            <a:pPr indent="0" marL="0">
              <a:buNone/>
            </a:pPr>
            <a:r>
              <a:rPr lang="en-US" sz="1600" b="1" dirty="0">
                <a:solidFill>
                  <a:srgbClr val="F8FAFC"/>
                </a:solidFill>
              </a:rPr>
              <a:t>Turning Play Time into Verified Eco-Capital</a:t>
            </a:r>
            <a:endParaRPr lang="en-US" sz="1600" dirty="0"/>
          </a:p>
        </p:txBody>
      </p:sp>
      <p:sp>
        <p:nvSpPr>
          <p:cNvPr id="18" name="Text 16"/>
          <p:cNvSpPr/>
          <p:nvPr/>
        </p:nvSpPr>
        <p:spPr>
          <a:xfrm>
            <a:off x="6446520" y="3063240"/>
            <a:ext cx="4709160" cy="640080"/>
          </a:xfrm>
          <a:prstGeom prst="rect">
            <a:avLst/>
          </a:prstGeom>
          <a:noFill/>
          <a:ln/>
        </p:spPr>
        <p:txBody>
          <a:bodyPr wrap="square" rtlCol="0" anchor="ctr"/>
          <a:lstStyle/>
          <a:p>
            <a:pPr indent="0" marL="0">
              <a:lnSpc>
                <a:spcPts val="1600"/>
              </a:lnSpc>
              <a:buNone/>
            </a:pPr>
            <a:r>
              <a:rPr lang="en-US" sz="1050" dirty="0">
                <a:solidFill>
                  <a:srgbClr val="94A3B8"/>
                </a:solidFill>
              </a:rPr>
              <a:t>• Biome Coin Economy: Earn 6 distinct biome coins (Amber Bamboo, Azure Ripple, etc.) through time and completed quests.</a:t>
            </a:r>
            <a:endParaRPr lang="en-US" sz="1050" dirty="0"/>
          </a:p>
        </p:txBody>
      </p:sp>
      <p:sp>
        <p:nvSpPr>
          <p:cNvPr id="19" name="Text 17"/>
          <p:cNvSpPr/>
          <p:nvPr/>
        </p:nvSpPr>
        <p:spPr>
          <a:xfrm>
            <a:off x="6446520" y="3749040"/>
            <a:ext cx="4709160" cy="640080"/>
          </a:xfrm>
          <a:prstGeom prst="rect">
            <a:avLst/>
          </a:prstGeom>
          <a:noFill/>
          <a:ln/>
        </p:spPr>
        <p:txBody>
          <a:bodyPr wrap="square" rtlCol="0" anchor="ctr"/>
          <a:lstStyle/>
          <a:p>
            <a:pPr indent="0" marL="0">
              <a:lnSpc>
                <a:spcPts val="1600"/>
              </a:lnSpc>
              <a:buNone/>
            </a:pPr>
            <a:r>
              <a:rPr lang="en-US" sz="1050" dirty="0">
                <a:solidFill>
                  <a:srgbClr val="94A3B8"/>
                </a:solidFill>
              </a:rPr>
              <a:t>• Sponsored Donation Matching: 500 Biome Coins = $1.00 USD matched from corporate sustainability pools (Bayer, Patagonia).</a:t>
            </a:r>
            <a:endParaRPr lang="en-US" sz="1050" dirty="0"/>
          </a:p>
        </p:txBody>
      </p:sp>
      <p:sp>
        <p:nvSpPr>
          <p:cNvPr id="20" name="Text 18"/>
          <p:cNvSpPr/>
          <p:nvPr/>
        </p:nvSpPr>
        <p:spPr>
          <a:xfrm>
            <a:off x="6446520" y="4434840"/>
            <a:ext cx="4709160" cy="640080"/>
          </a:xfrm>
          <a:prstGeom prst="rect">
            <a:avLst/>
          </a:prstGeom>
          <a:noFill/>
          <a:ln/>
        </p:spPr>
        <p:txBody>
          <a:bodyPr wrap="square" rtlCol="0" anchor="ctr"/>
          <a:lstStyle/>
          <a:p>
            <a:pPr indent="0" marL="0">
              <a:lnSpc>
                <a:spcPts val="1600"/>
              </a:lnSpc>
              <a:buNone/>
            </a:pPr>
            <a:r>
              <a:rPr lang="en-US" sz="1050" dirty="0">
                <a:solidFill>
                  <a:srgbClr val="94A3B8"/>
                </a:solidFill>
              </a:rPr>
              <a:t>• Actionable Civic Artifacts: Players sign real Change.org petitions and copy pre-drafted legislative emails for regenerative subsidies.</a:t>
            </a:r>
            <a:endParaRPr lang="en-US" sz="1050" dirty="0"/>
          </a:p>
        </p:txBody>
      </p:sp>
      <p:sp>
        <p:nvSpPr>
          <p:cNvPr id="21" name="Text 19"/>
          <p:cNvSpPr/>
          <p:nvPr/>
        </p:nvSpPr>
        <p:spPr>
          <a:xfrm>
            <a:off x="6446520" y="5120640"/>
            <a:ext cx="4709160" cy="640080"/>
          </a:xfrm>
          <a:prstGeom prst="rect">
            <a:avLst/>
          </a:prstGeom>
          <a:noFill/>
          <a:ln/>
        </p:spPr>
        <p:txBody>
          <a:bodyPr wrap="square" rtlCol="0" anchor="ctr"/>
          <a:lstStyle/>
          <a:p>
            <a:pPr indent="0" marL="0">
              <a:lnSpc>
                <a:spcPts val="1600"/>
              </a:lnSpc>
              <a:buNone/>
            </a:pPr>
            <a:r>
              <a:rPr lang="en-US" sz="1050" dirty="0">
                <a:solidFill>
                  <a:srgbClr val="94A3B8"/>
                </a:solidFill>
              </a:rPr>
              <a:t>• Authentic Eco-Ad Network: Curated sponsor ads boost player treasury while funding non-profit agricultural grants.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31520" y="457200"/>
            <a:ext cx="2011680" cy="320040"/>
          </a:xfrm>
          <a:prstGeom prst="roundRect">
            <a:avLst>
              <a:gd name="adj" fmla="val 42857"/>
            </a:avLst>
          </a:prstGeom>
          <a:solidFill>
            <a:srgbClr val="065F46"/>
          </a:solidFill>
          <a:ln w="12700">
            <a:solidFill>
              <a:srgbClr val="10B981"/>
            </a:solidFill>
            <a:prstDash val="solid"/>
          </a:ln>
        </p:spPr>
      </p:sp>
      <p:sp>
        <p:nvSpPr>
          <p:cNvPr id="3" name="Text 1"/>
          <p:cNvSpPr/>
          <p:nvPr/>
        </p:nvSpPr>
        <p:spPr>
          <a:xfrm>
            <a:off x="731520" y="457200"/>
            <a:ext cx="2011680" cy="320040"/>
          </a:xfrm>
          <a:prstGeom prst="rect">
            <a:avLst/>
          </a:prstGeom>
          <a:noFill/>
          <a:ln/>
        </p:spPr>
        <p:txBody>
          <a:bodyPr wrap="square" rtlCol="0" anchor="ctr"/>
          <a:lstStyle/>
          <a:p>
            <a:pPr algn="ctr" indent="0" marL="0">
              <a:buNone/>
            </a:pPr>
            <a:r>
              <a:rPr lang="en-US" sz="1000" b="1" dirty="0">
                <a:solidFill>
                  <a:srgbClr val="10B981"/>
                </a:solidFill>
              </a:rPr>
              <a:t>TRACK SPOTLIGHT</a:t>
            </a:r>
            <a:endParaRPr lang="en-US" sz="1000" dirty="0"/>
          </a:p>
        </p:txBody>
      </p:sp>
      <p:sp>
        <p:nvSpPr>
          <p:cNvPr id="4" name="Text 2"/>
          <p:cNvSpPr/>
          <p:nvPr/>
        </p:nvSpPr>
        <p:spPr>
          <a:xfrm>
            <a:off x="731520" y="868680"/>
            <a:ext cx="10515600" cy="594360"/>
          </a:xfrm>
          <a:prstGeom prst="rect">
            <a:avLst/>
          </a:prstGeom>
          <a:noFill/>
          <a:ln/>
        </p:spPr>
        <p:txBody>
          <a:bodyPr wrap="square" rtlCol="0" anchor="ctr"/>
          <a:lstStyle/>
          <a:p>
            <a:pPr indent="0" marL="0">
              <a:buNone/>
            </a:pPr>
            <a:r>
              <a:rPr lang="en-US" sz="2600" b="1" dirty="0">
                <a:solidFill>
                  <a:srgbClr val="F8FAFC"/>
                </a:solidFill>
                <a:latin typeface="Arial" pitchFamily="34" charset="0"/>
                <a:ea typeface="Arial" pitchFamily="34" charset="-122"/>
                <a:cs typeface="Arial" pitchFamily="34" charset="-120"/>
              </a:rPr>
              <a:t>Bayer Smart Farming Simulator: Proof of Synergy</a:t>
            </a:r>
            <a:endParaRPr lang="en-US" sz="2600" dirty="0"/>
          </a:p>
        </p:txBody>
      </p:sp>
      <p:sp>
        <p:nvSpPr>
          <p:cNvPr id="5" name="Text 3"/>
          <p:cNvSpPr/>
          <p:nvPr/>
        </p:nvSpPr>
        <p:spPr>
          <a:xfrm>
            <a:off x="731520" y="1463040"/>
            <a:ext cx="10515600" cy="36576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Interactive precision agriculture simulator harmonizing high yield with biodiversity</a:t>
            </a:r>
            <a:endParaRPr lang="en-US" sz="1300" dirty="0"/>
          </a:p>
        </p:txBody>
      </p:sp>
      <p:sp>
        <p:nvSpPr>
          <p:cNvPr id="6" name="Text 4"/>
          <p:cNvSpPr/>
          <p:nvPr/>
        </p:nvSpPr>
        <p:spPr>
          <a:xfrm>
            <a:off x="731520" y="6400800"/>
            <a:ext cx="8229600" cy="274320"/>
          </a:xfrm>
          <a:prstGeom prst="rect">
            <a:avLst/>
          </a:prstGeom>
          <a:noFill/>
          <a:ln/>
        </p:spPr>
        <p:txBody>
          <a:bodyPr wrap="square" rtlCol="0" anchor="ctr"/>
          <a:lstStyle/>
          <a:p>
            <a:pPr indent="0" marL="0">
              <a:buNone/>
            </a:pPr>
            <a:r>
              <a:rPr lang="en-US" sz="900" dirty="0">
                <a:solidFill>
                  <a:srgbClr val="64748B"/>
                </a:solidFill>
              </a:rPr>
              <a:t>FIELD TO FUTURE: BLOOM  |  Bayer Hackathon Track: Agriculture &amp; Sustainability</a:t>
            </a:r>
            <a:endParaRPr lang="en-US" sz="900" dirty="0"/>
          </a:p>
        </p:txBody>
      </p:sp>
      <p:sp>
        <p:nvSpPr>
          <p:cNvPr id="7" name="Text 5"/>
          <p:cNvSpPr/>
          <p:nvPr/>
        </p:nvSpPr>
        <p:spPr>
          <a:xfrm>
            <a:off x="10515600" y="6400800"/>
            <a:ext cx="914400" cy="274320"/>
          </a:xfrm>
          <a:prstGeom prst="rect">
            <a:avLst/>
          </a:prstGeom>
          <a:noFill/>
          <a:ln/>
        </p:spPr>
        <p:txBody>
          <a:bodyPr wrap="square" rtlCol="0" anchor="ctr"/>
          <a:lstStyle/>
          <a:p>
            <a:pPr algn="r" indent="0" marL="0">
              <a:buNone/>
            </a:pPr>
            <a:r>
              <a:rPr lang="en-US" sz="900" dirty="0">
                <a:solidFill>
                  <a:srgbClr val="64748B"/>
                </a:solidFill>
              </a:rPr>
              <a:t>4 / 12</a:t>
            </a:r>
            <a:endParaRPr lang="en-US" sz="900" dirty="0"/>
          </a:p>
        </p:txBody>
      </p:sp>
      <p:sp>
        <p:nvSpPr>
          <p:cNvPr id="8" name="Shape 6"/>
          <p:cNvSpPr/>
          <p:nvPr/>
        </p:nvSpPr>
        <p:spPr>
          <a:xfrm>
            <a:off x="731520" y="1965960"/>
            <a:ext cx="3291840" cy="4206240"/>
          </a:xfrm>
          <a:prstGeom prst="roundRect">
            <a:avLst>
              <a:gd name="adj" fmla="val 4167"/>
            </a:avLst>
          </a:prstGeom>
          <a:solidFill>
            <a:srgbClr val="142A1E"/>
          </a:solidFill>
          <a:ln w="15240">
            <a:solidFill>
              <a:srgbClr val="10B981"/>
            </a:solidFill>
            <a:prstDash val="solid"/>
          </a:ln>
        </p:spPr>
      </p:sp>
      <p:sp>
        <p:nvSpPr>
          <p:cNvPr id="9" name="Text 7"/>
          <p:cNvSpPr/>
          <p:nvPr/>
        </p:nvSpPr>
        <p:spPr>
          <a:xfrm>
            <a:off x="960120" y="2194560"/>
            <a:ext cx="2834640" cy="274320"/>
          </a:xfrm>
          <a:prstGeom prst="rect">
            <a:avLst/>
          </a:prstGeom>
          <a:noFill/>
          <a:ln/>
        </p:spPr>
        <p:txBody>
          <a:bodyPr wrap="square" rtlCol="0" anchor="ctr"/>
          <a:lstStyle/>
          <a:p>
            <a:pPr indent="0" marL="0">
              <a:buNone/>
            </a:pPr>
            <a:r>
              <a:rPr lang="en-US" sz="950" b="1" spc="150" kern="0" dirty="0">
                <a:solidFill>
                  <a:srgbClr val="10B981"/>
                </a:solidFill>
              </a:rPr>
              <a:t>THE REGENERATIVE EQUATION</a:t>
            </a:r>
            <a:endParaRPr lang="en-US" sz="950" dirty="0"/>
          </a:p>
        </p:txBody>
      </p:sp>
      <p:sp>
        <p:nvSpPr>
          <p:cNvPr id="10" name="Text 8"/>
          <p:cNvSpPr/>
          <p:nvPr/>
        </p:nvSpPr>
        <p:spPr>
          <a:xfrm>
            <a:off x="960120" y="2514600"/>
            <a:ext cx="2834640" cy="640080"/>
          </a:xfrm>
          <a:prstGeom prst="rect">
            <a:avLst/>
          </a:prstGeom>
          <a:noFill/>
          <a:ln/>
        </p:spPr>
        <p:txBody>
          <a:bodyPr wrap="square" rtlCol="0" anchor="ctr"/>
          <a:lstStyle/>
          <a:p>
            <a:pPr indent="0" marL="0">
              <a:buNone/>
            </a:pPr>
            <a:r>
              <a:rPr lang="en-US" sz="1800" b="1" dirty="0">
                <a:solidFill>
                  <a:srgbClr val="F8FAFC"/>
                </a:solidFill>
              </a:rPr>
              <a:t>100% Yield + 100% Biodiversity</a:t>
            </a:r>
            <a:endParaRPr lang="en-US" sz="1800" dirty="0"/>
          </a:p>
        </p:txBody>
      </p:sp>
      <p:sp>
        <p:nvSpPr>
          <p:cNvPr id="11" name="Text 9"/>
          <p:cNvSpPr/>
          <p:nvPr/>
        </p:nvSpPr>
        <p:spPr>
          <a:xfrm>
            <a:off x="960120" y="3200400"/>
            <a:ext cx="2834640" cy="1005840"/>
          </a:xfrm>
          <a:prstGeom prst="rect">
            <a:avLst/>
          </a:prstGeom>
          <a:noFill/>
          <a:ln/>
        </p:spPr>
        <p:txBody>
          <a:bodyPr wrap="square" rtlCol="0" anchor="ctr"/>
          <a:lstStyle/>
          <a:p>
            <a:pPr indent="0" marL="0">
              <a:lnSpc>
                <a:spcPts val="1700"/>
              </a:lnSpc>
              <a:buNone/>
            </a:pPr>
            <a:r>
              <a:rPr lang="en-US" sz="1050" dirty="0">
                <a:solidFill>
                  <a:srgbClr val="94A3B8"/>
                </a:solidFill>
              </a:rPr>
              <a:t>In our Regenerative Prairie quest, players configure 4 precision agricultural technologies developed by Bayer to revive Aura the Monarch Butterfly and save the farm’s golden sunflower crop.</a:t>
            </a:r>
            <a:endParaRPr lang="en-US" sz="1050" dirty="0"/>
          </a:p>
        </p:txBody>
      </p:sp>
      <p:sp>
        <p:nvSpPr>
          <p:cNvPr id="12" name="Text 10"/>
          <p:cNvSpPr/>
          <p:nvPr/>
        </p:nvSpPr>
        <p:spPr>
          <a:xfrm>
            <a:off x="960120" y="4343400"/>
            <a:ext cx="2834640" cy="457200"/>
          </a:xfrm>
          <a:prstGeom prst="rect">
            <a:avLst/>
          </a:prstGeom>
          <a:noFill/>
          <a:ln/>
        </p:spPr>
        <p:txBody>
          <a:bodyPr wrap="square" rtlCol="0" anchor="ctr"/>
          <a:lstStyle/>
          <a:p>
            <a:pPr indent="0" marL="0">
              <a:buNone/>
            </a:pPr>
            <a:r>
              <a:rPr lang="en-US" sz="2600" b="1" dirty="0">
                <a:solidFill>
                  <a:srgbClr val="F59E0B"/>
                </a:solidFill>
              </a:rPr>
              <a:t>+360 kg</a:t>
            </a:r>
            <a:endParaRPr lang="en-US" sz="2600" dirty="0"/>
          </a:p>
        </p:txBody>
      </p:sp>
      <p:sp>
        <p:nvSpPr>
          <p:cNvPr id="13" name="Text 11"/>
          <p:cNvSpPr/>
          <p:nvPr/>
        </p:nvSpPr>
        <p:spPr>
          <a:xfrm>
            <a:off x="960120" y="4800600"/>
            <a:ext cx="2834640" cy="411480"/>
          </a:xfrm>
          <a:prstGeom prst="rect">
            <a:avLst/>
          </a:prstGeom>
          <a:noFill/>
          <a:ln/>
        </p:spPr>
        <p:txBody>
          <a:bodyPr wrap="square" rtlCol="0" anchor="ctr"/>
          <a:lstStyle/>
          <a:p>
            <a:pPr indent="0" marL="0">
              <a:buNone/>
            </a:pPr>
            <a:r>
              <a:rPr lang="en-US" sz="900" dirty="0">
                <a:solidFill>
                  <a:srgbClr val="94A3B8"/>
                </a:solidFill>
              </a:rPr>
              <a:t>Carbon stored per acre via No-Till &amp; Cover Crops</a:t>
            </a:r>
            <a:endParaRPr lang="en-US" sz="900" dirty="0"/>
          </a:p>
        </p:txBody>
      </p:sp>
      <p:sp>
        <p:nvSpPr>
          <p:cNvPr id="14" name="Text 12"/>
          <p:cNvSpPr/>
          <p:nvPr/>
        </p:nvSpPr>
        <p:spPr>
          <a:xfrm>
            <a:off x="960120" y="5303520"/>
            <a:ext cx="2834640" cy="320040"/>
          </a:xfrm>
          <a:prstGeom prst="rect">
            <a:avLst/>
          </a:prstGeom>
          <a:noFill/>
          <a:ln/>
        </p:spPr>
        <p:txBody>
          <a:bodyPr wrap="square" rtlCol="0" anchor="ctr"/>
          <a:lstStyle/>
          <a:p>
            <a:pPr indent="0" marL="0">
              <a:buNone/>
            </a:pPr>
            <a:r>
              <a:rPr lang="en-US" sz="1200" b="1" dirty="0">
                <a:solidFill>
                  <a:srgbClr val="10B981"/>
                </a:solidFill>
              </a:rPr>
              <a:t>Zero Chemical Runoff</a:t>
            </a:r>
            <a:endParaRPr lang="en-US" sz="1200" dirty="0"/>
          </a:p>
        </p:txBody>
      </p:sp>
      <p:sp>
        <p:nvSpPr>
          <p:cNvPr id="15" name="Text 13"/>
          <p:cNvSpPr/>
          <p:nvPr/>
        </p:nvSpPr>
        <p:spPr>
          <a:xfrm>
            <a:off x="960120" y="5623560"/>
            <a:ext cx="2834640" cy="320040"/>
          </a:xfrm>
          <a:prstGeom prst="rect">
            <a:avLst/>
          </a:prstGeom>
          <a:noFill/>
          <a:ln/>
        </p:spPr>
        <p:txBody>
          <a:bodyPr wrap="square" rtlCol="0" anchor="ctr"/>
          <a:lstStyle/>
          <a:p>
            <a:pPr indent="0" marL="0">
              <a:buNone/>
            </a:pPr>
            <a:r>
              <a:rPr lang="en-US" sz="900" dirty="0">
                <a:solidFill>
                  <a:srgbClr val="94A3B8"/>
                </a:solidFill>
              </a:rPr>
              <a:t>Achieved via precision drip &amp; targeted biologicals</a:t>
            </a:r>
            <a:endParaRPr lang="en-US" sz="900" dirty="0"/>
          </a:p>
        </p:txBody>
      </p:sp>
      <p:sp>
        <p:nvSpPr>
          <p:cNvPr id="16" name="Shape 14"/>
          <p:cNvSpPr/>
          <p:nvPr/>
        </p:nvSpPr>
        <p:spPr>
          <a:xfrm>
            <a:off x="4251960" y="1965960"/>
            <a:ext cx="7178040" cy="960120"/>
          </a:xfrm>
          <a:prstGeom prst="roundRect">
            <a:avLst>
              <a:gd name="adj" fmla="val 9524"/>
            </a:avLst>
          </a:prstGeom>
          <a:solidFill>
            <a:srgbClr val="1E293B"/>
          </a:solidFill>
          <a:ln w="12700">
            <a:solidFill>
              <a:srgbClr val="334155"/>
            </a:solidFill>
            <a:prstDash val="solid"/>
          </a:ln>
        </p:spPr>
      </p:sp>
      <p:sp>
        <p:nvSpPr>
          <p:cNvPr id="17" name="Text 15"/>
          <p:cNvSpPr/>
          <p:nvPr/>
        </p:nvSpPr>
        <p:spPr>
          <a:xfrm>
            <a:off x="4434840" y="2057400"/>
            <a:ext cx="4206240" cy="274320"/>
          </a:xfrm>
          <a:prstGeom prst="rect">
            <a:avLst/>
          </a:prstGeom>
          <a:noFill/>
          <a:ln/>
        </p:spPr>
        <p:txBody>
          <a:bodyPr wrap="square" rtlCol="0" anchor="ctr"/>
          <a:lstStyle/>
          <a:p>
            <a:pPr indent="0" marL="0">
              <a:buNone/>
            </a:pPr>
            <a:r>
              <a:rPr lang="en-US" sz="1200" b="1" dirty="0">
                <a:solidFill>
                  <a:srgbClr val="F8FAFC"/>
                </a:solidFill>
              </a:rPr>
              <a:t>1. No-Till Conservation Agriculture</a:t>
            </a:r>
            <a:endParaRPr lang="en-US" sz="1200" dirty="0"/>
          </a:p>
        </p:txBody>
      </p:sp>
      <p:sp>
        <p:nvSpPr>
          <p:cNvPr id="18" name="Text 16"/>
          <p:cNvSpPr/>
          <p:nvPr/>
        </p:nvSpPr>
        <p:spPr>
          <a:xfrm>
            <a:off x="7178040" y="2057400"/>
            <a:ext cx="4023360" cy="274320"/>
          </a:xfrm>
          <a:prstGeom prst="rect">
            <a:avLst/>
          </a:prstGeom>
          <a:noFill/>
          <a:ln/>
        </p:spPr>
        <p:txBody>
          <a:bodyPr wrap="square" rtlCol="0" anchor="ctr"/>
          <a:lstStyle/>
          <a:p>
            <a:pPr algn="r" indent="0" marL="0">
              <a:buNone/>
            </a:pPr>
            <a:r>
              <a:rPr lang="en-US" sz="950" b="1" dirty="0">
                <a:solidFill>
                  <a:srgbClr val="10B981"/>
                </a:solidFill>
              </a:rPr>
              <a:t>+10% Yield | +20% Biodiversity | 220 kg Soil Carbon</a:t>
            </a:r>
            <a:endParaRPr lang="en-US" sz="950" dirty="0"/>
          </a:p>
        </p:txBody>
      </p:sp>
      <p:sp>
        <p:nvSpPr>
          <p:cNvPr id="19" name="Text 17"/>
          <p:cNvSpPr/>
          <p:nvPr/>
        </p:nvSpPr>
        <p:spPr>
          <a:xfrm>
            <a:off x="4434840" y="2350008"/>
            <a:ext cx="6766560" cy="502920"/>
          </a:xfrm>
          <a:prstGeom prst="rect">
            <a:avLst/>
          </a:prstGeom>
          <a:noFill/>
          <a:ln/>
        </p:spPr>
        <p:txBody>
          <a:bodyPr wrap="square" rtlCol="0" anchor="ctr"/>
          <a:lstStyle/>
          <a:p>
            <a:pPr indent="0" marL="0">
              <a:lnSpc>
                <a:spcPts val="1500"/>
              </a:lnSpc>
              <a:buNone/>
            </a:pPr>
            <a:r>
              <a:rPr lang="en-US" sz="950" dirty="0">
                <a:solidFill>
                  <a:srgbClr val="94A3B8"/>
                </a:solidFill>
              </a:rPr>
              <a:t>Preserves delicate soil mycorrhizal fungi networks, retains ground moisture during severe droughts, and dramatically prevents topsoil erosion.</a:t>
            </a:r>
            <a:endParaRPr lang="en-US" sz="950" dirty="0"/>
          </a:p>
        </p:txBody>
      </p:sp>
      <p:sp>
        <p:nvSpPr>
          <p:cNvPr id="20" name="Shape 18"/>
          <p:cNvSpPr/>
          <p:nvPr/>
        </p:nvSpPr>
        <p:spPr>
          <a:xfrm>
            <a:off x="4251960" y="3017520"/>
            <a:ext cx="7178040" cy="960120"/>
          </a:xfrm>
          <a:prstGeom prst="roundRect">
            <a:avLst>
              <a:gd name="adj" fmla="val 9524"/>
            </a:avLst>
          </a:prstGeom>
          <a:solidFill>
            <a:srgbClr val="1E293B"/>
          </a:solidFill>
          <a:ln w="12700">
            <a:solidFill>
              <a:srgbClr val="334155"/>
            </a:solidFill>
            <a:prstDash val="solid"/>
          </a:ln>
        </p:spPr>
      </p:sp>
      <p:sp>
        <p:nvSpPr>
          <p:cNvPr id="21" name="Text 19"/>
          <p:cNvSpPr/>
          <p:nvPr/>
        </p:nvSpPr>
        <p:spPr>
          <a:xfrm>
            <a:off x="4434840" y="3108960"/>
            <a:ext cx="4206240" cy="274320"/>
          </a:xfrm>
          <a:prstGeom prst="rect">
            <a:avLst/>
          </a:prstGeom>
          <a:noFill/>
          <a:ln/>
        </p:spPr>
        <p:txBody>
          <a:bodyPr wrap="square" rtlCol="0" anchor="ctr"/>
          <a:lstStyle/>
          <a:p>
            <a:pPr indent="0" marL="0">
              <a:buNone/>
            </a:pPr>
            <a:r>
              <a:rPr lang="en-US" sz="1200" b="1" dirty="0">
                <a:solidFill>
                  <a:srgbClr val="F8FAFC"/>
                </a:solidFill>
              </a:rPr>
              <a:t>2. Precision Drip Micro-Irrigation</a:t>
            </a:r>
            <a:endParaRPr lang="en-US" sz="1200" dirty="0"/>
          </a:p>
        </p:txBody>
      </p:sp>
      <p:sp>
        <p:nvSpPr>
          <p:cNvPr id="22" name="Text 20"/>
          <p:cNvSpPr/>
          <p:nvPr/>
        </p:nvSpPr>
        <p:spPr>
          <a:xfrm>
            <a:off x="7178040" y="3108960"/>
            <a:ext cx="4023360" cy="274320"/>
          </a:xfrm>
          <a:prstGeom prst="rect">
            <a:avLst/>
          </a:prstGeom>
          <a:noFill/>
          <a:ln/>
        </p:spPr>
        <p:txBody>
          <a:bodyPr wrap="square" rtlCol="0" anchor="ctr"/>
          <a:lstStyle/>
          <a:p>
            <a:pPr algn="r" indent="0" marL="0">
              <a:buNone/>
            </a:pPr>
            <a:r>
              <a:rPr lang="en-US" sz="950" b="1" dirty="0">
                <a:solidFill>
                  <a:srgbClr val="10B981"/>
                </a:solidFill>
              </a:rPr>
              <a:t>+18% Yield | +15% Biodiversity | -45% Water Waste</a:t>
            </a:r>
            <a:endParaRPr lang="en-US" sz="950" dirty="0"/>
          </a:p>
        </p:txBody>
      </p:sp>
      <p:sp>
        <p:nvSpPr>
          <p:cNvPr id="23" name="Text 21"/>
          <p:cNvSpPr/>
          <p:nvPr/>
        </p:nvSpPr>
        <p:spPr>
          <a:xfrm>
            <a:off x="4434840" y="3401568"/>
            <a:ext cx="6766560" cy="502920"/>
          </a:xfrm>
          <a:prstGeom prst="rect">
            <a:avLst/>
          </a:prstGeom>
          <a:noFill/>
          <a:ln/>
        </p:spPr>
        <p:txBody>
          <a:bodyPr wrap="square" rtlCol="0" anchor="ctr"/>
          <a:lstStyle/>
          <a:p>
            <a:pPr indent="0" marL="0">
              <a:lnSpc>
                <a:spcPts val="1500"/>
              </a:lnSpc>
              <a:buNone/>
            </a:pPr>
            <a:r>
              <a:rPr lang="en-US" sz="950" dirty="0">
                <a:solidFill>
                  <a:srgbClr val="94A3B8"/>
                </a:solidFill>
              </a:rPr>
              <a:t>Delivers sensor-calibrated water directly to plant root zones, eliminating evaporation loss and ending chemical nutrient runoff into nearby marshlands.</a:t>
            </a:r>
            <a:endParaRPr lang="en-US" sz="950" dirty="0"/>
          </a:p>
        </p:txBody>
      </p:sp>
      <p:sp>
        <p:nvSpPr>
          <p:cNvPr id="24" name="Shape 22"/>
          <p:cNvSpPr/>
          <p:nvPr/>
        </p:nvSpPr>
        <p:spPr>
          <a:xfrm>
            <a:off x="4251960" y="4069080"/>
            <a:ext cx="7178040" cy="960120"/>
          </a:xfrm>
          <a:prstGeom prst="roundRect">
            <a:avLst>
              <a:gd name="adj" fmla="val 9524"/>
            </a:avLst>
          </a:prstGeom>
          <a:solidFill>
            <a:srgbClr val="1E293B"/>
          </a:solidFill>
          <a:ln w="12700">
            <a:solidFill>
              <a:srgbClr val="334155"/>
            </a:solidFill>
            <a:prstDash val="solid"/>
          </a:ln>
        </p:spPr>
      </p:sp>
      <p:sp>
        <p:nvSpPr>
          <p:cNvPr id="25" name="Text 23"/>
          <p:cNvSpPr/>
          <p:nvPr/>
        </p:nvSpPr>
        <p:spPr>
          <a:xfrm>
            <a:off x="4434840" y="4160520"/>
            <a:ext cx="4206240" cy="274320"/>
          </a:xfrm>
          <a:prstGeom prst="rect">
            <a:avLst/>
          </a:prstGeom>
          <a:noFill/>
          <a:ln/>
        </p:spPr>
        <p:txBody>
          <a:bodyPr wrap="square" rtlCol="0" anchor="ctr"/>
          <a:lstStyle/>
          <a:p>
            <a:pPr indent="0" marL="0">
              <a:buNone/>
            </a:pPr>
            <a:r>
              <a:rPr lang="en-US" sz="1200" b="1" dirty="0">
                <a:solidFill>
                  <a:srgbClr val="F8FAFC"/>
                </a:solidFill>
              </a:rPr>
              <a:t>3. Native Pollinator Hedgerow Corridors</a:t>
            </a:r>
            <a:endParaRPr lang="en-US" sz="1200" dirty="0"/>
          </a:p>
        </p:txBody>
      </p:sp>
      <p:sp>
        <p:nvSpPr>
          <p:cNvPr id="26" name="Text 24"/>
          <p:cNvSpPr/>
          <p:nvPr/>
        </p:nvSpPr>
        <p:spPr>
          <a:xfrm>
            <a:off x="7178040" y="4160520"/>
            <a:ext cx="4023360" cy="274320"/>
          </a:xfrm>
          <a:prstGeom prst="rect">
            <a:avLst/>
          </a:prstGeom>
          <a:noFill/>
          <a:ln/>
        </p:spPr>
        <p:txBody>
          <a:bodyPr wrap="square" rtlCol="0" anchor="ctr"/>
          <a:lstStyle/>
          <a:p>
            <a:pPr algn="r" indent="0" marL="0">
              <a:buNone/>
            </a:pPr>
            <a:r>
              <a:rPr lang="en-US" sz="950" b="1" dirty="0">
                <a:solidFill>
                  <a:srgbClr val="10B981"/>
                </a:solidFill>
              </a:rPr>
              <a:t>+35% Biodiversity | Restores Milkweed &amp; Monarchs</a:t>
            </a:r>
            <a:endParaRPr lang="en-US" sz="950" dirty="0"/>
          </a:p>
        </p:txBody>
      </p:sp>
      <p:sp>
        <p:nvSpPr>
          <p:cNvPr id="27" name="Text 25"/>
          <p:cNvSpPr/>
          <p:nvPr/>
        </p:nvSpPr>
        <p:spPr>
          <a:xfrm>
            <a:off x="4434840" y="4453128"/>
            <a:ext cx="6766560" cy="502920"/>
          </a:xfrm>
          <a:prstGeom prst="rect">
            <a:avLst/>
          </a:prstGeom>
          <a:noFill/>
          <a:ln/>
        </p:spPr>
        <p:txBody>
          <a:bodyPr wrap="square" rtlCol="0" anchor="ctr"/>
          <a:lstStyle/>
          <a:p>
            <a:pPr indent="0" marL="0">
              <a:lnSpc>
                <a:spcPts val="1500"/>
              </a:lnSpc>
              <a:buNone/>
            </a:pPr>
            <a:r>
              <a:rPr lang="en-US" sz="950" dirty="0">
                <a:solidFill>
                  <a:srgbClr val="94A3B8"/>
                </a:solidFill>
              </a:rPr>
              <a:t>Intersperses native milkweed and wildflower corridors throughout crop fields, providing safe migratory pathways for butterflies and honeybees.</a:t>
            </a:r>
            <a:endParaRPr lang="en-US" sz="950" dirty="0"/>
          </a:p>
        </p:txBody>
      </p:sp>
      <p:sp>
        <p:nvSpPr>
          <p:cNvPr id="28" name="Shape 26"/>
          <p:cNvSpPr/>
          <p:nvPr/>
        </p:nvSpPr>
        <p:spPr>
          <a:xfrm>
            <a:off x="4251960" y="5120640"/>
            <a:ext cx="7178040" cy="960120"/>
          </a:xfrm>
          <a:prstGeom prst="roundRect">
            <a:avLst>
              <a:gd name="adj" fmla="val 9524"/>
            </a:avLst>
          </a:prstGeom>
          <a:solidFill>
            <a:srgbClr val="1E293B"/>
          </a:solidFill>
          <a:ln w="12700">
            <a:solidFill>
              <a:srgbClr val="334155"/>
            </a:solidFill>
            <a:prstDash val="solid"/>
          </a:ln>
        </p:spPr>
      </p:sp>
      <p:sp>
        <p:nvSpPr>
          <p:cNvPr id="29" name="Text 27"/>
          <p:cNvSpPr/>
          <p:nvPr/>
        </p:nvSpPr>
        <p:spPr>
          <a:xfrm>
            <a:off x="4434840" y="5212080"/>
            <a:ext cx="4206240" cy="274320"/>
          </a:xfrm>
          <a:prstGeom prst="rect">
            <a:avLst/>
          </a:prstGeom>
          <a:noFill/>
          <a:ln/>
        </p:spPr>
        <p:txBody>
          <a:bodyPr wrap="square" rtlCol="0" anchor="ctr"/>
          <a:lstStyle/>
          <a:p>
            <a:pPr indent="0" marL="0">
              <a:buNone/>
            </a:pPr>
            <a:r>
              <a:rPr lang="en-US" sz="1200" b="1" dirty="0">
                <a:solidFill>
                  <a:srgbClr val="F8FAFC"/>
                </a:solidFill>
              </a:rPr>
              <a:t>4. Targeted Biological Crop Protection</a:t>
            </a:r>
            <a:endParaRPr lang="en-US" sz="1200" dirty="0"/>
          </a:p>
        </p:txBody>
      </p:sp>
      <p:sp>
        <p:nvSpPr>
          <p:cNvPr id="30" name="Text 28"/>
          <p:cNvSpPr/>
          <p:nvPr/>
        </p:nvSpPr>
        <p:spPr>
          <a:xfrm>
            <a:off x="7178040" y="5212080"/>
            <a:ext cx="4023360" cy="274320"/>
          </a:xfrm>
          <a:prstGeom prst="rect">
            <a:avLst/>
          </a:prstGeom>
          <a:noFill/>
          <a:ln/>
        </p:spPr>
        <p:txBody>
          <a:bodyPr wrap="square" rtlCol="0" anchor="ctr"/>
          <a:lstStyle/>
          <a:p>
            <a:pPr algn="r" indent="0" marL="0">
              <a:buNone/>
            </a:pPr>
            <a:r>
              <a:rPr lang="en-US" sz="950" b="1" dirty="0">
                <a:solidFill>
                  <a:srgbClr val="10B981"/>
                </a:solidFill>
              </a:rPr>
              <a:t>+12% Yield | +10% Biodiversity | Zero Pollinator Harm</a:t>
            </a:r>
            <a:endParaRPr lang="en-US" sz="950" dirty="0"/>
          </a:p>
        </p:txBody>
      </p:sp>
      <p:sp>
        <p:nvSpPr>
          <p:cNvPr id="31" name="Text 29"/>
          <p:cNvSpPr/>
          <p:nvPr/>
        </p:nvSpPr>
        <p:spPr>
          <a:xfrm>
            <a:off x="4434840" y="5504688"/>
            <a:ext cx="6766560" cy="502920"/>
          </a:xfrm>
          <a:prstGeom prst="rect">
            <a:avLst/>
          </a:prstGeom>
          <a:noFill/>
          <a:ln/>
        </p:spPr>
        <p:txBody>
          <a:bodyPr wrap="square" rtlCol="0" anchor="ctr"/>
          <a:lstStyle/>
          <a:p>
            <a:pPr indent="0" marL="0">
              <a:lnSpc>
                <a:spcPts val="1500"/>
              </a:lnSpc>
              <a:buNone/>
            </a:pPr>
            <a:r>
              <a:rPr lang="en-US" sz="950" dirty="0">
                <a:solidFill>
                  <a:srgbClr val="94A3B8"/>
                </a:solidFill>
              </a:rPr>
              <a:t>Replaces blanket prophylactic pesticides with micro-targeted biologicals and beneficial predatory insects, safeguarding crops without harming pollinators.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31520" y="457200"/>
            <a:ext cx="2011680" cy="320040"/>
          </a:xfrm>
          <a:prstGeom prst="roundRect">
            <a:avLst>
              <a:gd name="adj" fmla="val 42857"/>
            </a:avLst>
          </a:prstGeom>
          <a:solidFill>
            <a:srgbClr val="065F46"/>
          </a:solidFill>
          <a:ln w="12700">
            <a:solidFill>
              <a:srgbClr val="10B981"/>
            </a:solidFill>
            <a:prstDash val="solid"/>
          </a:ln>
        </p:spPr>
      </p:sp>
      <p:sp>
        <p:nvSpPr>
          <p:cNvPr id="3" name="Text 1"/>
          <p:cNvSpPr/>
          <p:nvPr/>
        </p:nvSpPr>
        <p:spPr>
          <a:xfrm>
            <a:off x="731520" y="457200"/>
            <a:ext cx="2011680" cy="320040"/>
          </a:xfrm>
          <a:prstGeom prst="rect">
            <a:avLst/>
          </a:prstGeom>
          <a:noFill/>
          <a:ln/>
        </p:spPr>
        <p:txBody>
          <a:bodyPr wrap="square" rtlCol="0" anchor="ctr"/>
          <a:lstStyle/>
          <a:p>
            <a:pPr algn="ctr" indent="0" marL="0">
              <a:buNone/>
            </a:pPr>
            <a:r>
              <a:rPr lang="en-US" sz="1000" b="1" dirty="0">
                <a:solidFill>
                  <a:srgbClr val="10B981"/>
                </a:solidFill>
              </a:rPr>
              <a:t>WORLD DESIGN</a:t>
            </a:r>
            <a:endParaRPr lang="en-US" sz="1000" dirty="0"/>
          </a:p>
        </p:txBody>
      </p:sp>
      <p:sp>
        <p:nvSpPr>
          <p:cNvPr id="4" name="Text 2"/>
          <p:cNvSpPr/>
          <p:nvPr/>
        </p:nvSpPr>
        <p:spPr>
          <a:xfrm>
            <a:off x="731520" y="868680"/>
            <a:ext cx="10515600" cy="594360"/>
          </a:xfrm>
          <a:prstGeom prst="rect">
            <a:avLst/>
          </a:prstGeom>
          <a:noFill/>
          <a:ln/>
        </p:spPr>
        <p:txBody>
          <a:bodyPr wrap="square" rtlCol="0" anchor="ctr"/>
          <a:lstStyle/>
          <a:p>
            <a:pPr indent="0" marL="0">
              <a:buNone/>
            </a:pPr>
            <a:r>
              <a:rPr lang="en-US" sz="2600" b="1" dirty="0">
                <a:solidFill>
                  <a:srgbClr val="F8FAFC"/>
                </a:solidFill>
                <a:latin typeface="Arial" pitchFamily="34" charset="0"/>
                <a:ea typeface="Arial" pitchFamily="34" charset="-122"/>
                <a:cs typeface="Arial" pitchFamily="34" charset="-120"/>
              </a:rPr>
              <a:t>7 Interconnected Biomes &amp; Endangered Guardians</a:t>
            </a:r>
            <a:endParaRPr lang="en-US" sz="2600" dirty="0"/>
          </a:p>
        </p:txBody>
      </p:sp>
      <p:sp>
        <p:nvSpPr>
          <p:cNvPr id="5" name="Text 3"/>
          <p:cNvSpPr/>
          <p:nvPr/>
        </p:nvSpPr>
        <p:spPr>
          <a:xfrm>
            <a:off x="731520" y="1463040"/>
            <a:ext cx="10515600" cy="36576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How regional habitat restoration rescues the 6 central farm crops</a:t>
            </a:r>
            <a:endParaRPr lang="en-US" sz="1300" dirty="0"/>
          </a:p>
        </p:txBody>
      </p:sp>
      <p:sp>
        <p:nvSpPr>
          <p:cNvPr id="6" name="Text 4"/>
          <p:cNvSpPr/>
          <p:nvPr/>
        </p:nvSpPr>
        <p:spPr>
          <a:xfrm>
            <a:off x="731520" y="6400800"/>
            <a:ext cx="8229600" cy="274320"/>
          </a:xfrm>
          <a:prstGeom prst="rect">
            <a:avLst/>
          </a:prstGeom>
          <a:noFill/>
          <a:ln/>
        </p:spPr>
        <p:txBody>
          <a:bodyPr wrap="square" rtlCol="0" anchor="ctr"/>
          <a:lstStyle/>
          <a:p>
            <a:pPr indent="0" marL="0">
              <a:buNone/>
            </a:pPr>
            <a:r>
              <a:rPr lang="en-US" sz="900" dirty="0">
                <a:solidFill>
                  <a:srgbClr val="64748B"/>
                </a:solidFill>
              </a:rPr>
              <a:t>FIELD TO FUTURE: BLOOM  |  Bayer Hackathon Track: Agriculture &amp; Sustainability</a:t>
            </a:r>
            <a:endParaRPr lang="en-US" sz="900" dirty="0"/>
          </a:p>
        </p:txBody>
      </p:sp>
      <p:sp>
        <p:nvSpPr>
          <p:cNvPr id="7" name="Text 5"/>
          <p:cNvSpPr/>
          <p:nvPr/>
        </p:nvSpPr>
        <p:spPr>
          <a:xfrm>
            <a:off x="10515600" y="6400800"/>
            <a:ext cx="914400" cy="274320"/>
          </a:xfrm>
          <a:prstGeom prst="rect">
            <a:avLst/>
          </a:prstGeom>
          <a:noFill/>
          <a:ln/>
        </p:spPr>
        <p:txBody>
          <a:bodyPr wrap="square" rtlCol="0" anchor="ctr"/>
          <a:lstStyle/>
          <a:p>
            <a:pPr algn="r" indent="0" marL="0">
              <a:buNone/>
            </a:pPr>
            <a:r>
              <a:rPr lang="en-US" sz="900" dirty="0">
                <a:solidFill>
                  <a:srgbClr val="64748B"/>
                </a:solidFill>
              </a:rPr>
              <a:t>5 / 12</a:t>
            </a:r>
            <a:endParaRPr lang="en-US" sz="900" dirty="0"/>
          </a:p>
        </p:txBody>
      </p:sp>
      <p:sp>
        <p:nvSpPr>
          <p:cNvPr id="8" name="Shape 6"/>
          <p:cNvSpPr/>
          <p:nvPr/>
        </p:nvSpPr>
        <p:spPr>
          <a:xfrm>
            <a:off x="731520" y="1965960"/>
            <a:ext cx="3429000" cy="1965960"/>
          </a:xfrm>
          <a:prstGeom prst="roundRect">
            <a:avLst>
              <a:gd name="adj" fmla="val 5581"/>
            </a:avLst>
          </a:prstGeom>
          <a:solidFill>
            <a:srgbClr val="1E293B"/>
          </a:solidFill>
          <a:ln w="15240">
            <a:solidFill>
              <a:srgbClr val="16A34A"/>
            </a:solidFill>
            <a:prstDash val="solid"/>
          </a:ln>
        </p:spPr>
      </p:sp>
      <p:sp>
        <p:nvSpPr>
          <p:cNvPr id="9" name="Text 7"/>
          <p:cNvSpPr/>
          <p:nvPr/>
        </p:nvSpPr>
        <p:spPr>
          <a:xfrm>
            <a:off x="914400" y="2103120"/>
            <a:ext cx="3063240" cy="228600"/>
          </a:xfrm>
          <a:prstGeom prst="rect">
            <a:avLst/>
          </a:prstGeom>
          <a:noFill/>
          <a:ln/>
        </p:spPr>
        <p:txBody>
          <a:bodyPr wrap="square" rtlCol="0" anchor="ctr"/>
          <a:lstStyle/>
          <a:p>
            <a:pPr indent="0" marL="0">
              <a:buNone/>
            </a:pPr>
            <a:r>
              <a:rPr lang="en-US" sz="900" b="1" spc="100" kern="0" dirty="0">
                <a:solidFill>
                  <a:srgbClr val="16A34A"/>
                </a:solidFill>
              </a:rPr>
              <a:t>BAMBOO CLOUD FOREST</a:t>
            </a:r>
            <a:endParaRPr lang="en-US" sz="900" dirty="0"/>
          </a:p>
        </p:txBody>
      </p:sp>
      <p:sp>
        <p:nvSpPr>
          <p:cNvPr id="10" name="Text 8"/>
          <p:cNvSpPr/>
          <p:nvPr/>
        </p:nvSpPr>
        <p:spPr>
          <a:xfrm>
            <a:off x="914400" y="2377440"/>
            <a:ext cx="3063240" cy="320040"/>
          </a:xfrm>
          <a:prstGeom prst="rect">
            <a:avLst/>
          </a:prstGeom>
          <a:noFill/>
          <a:ln/>
        </p:spPr>
        <p:txBody>
          <a:bodyPr wrap="square" rtlCol="0" anchor="ctr"/>
          <a:lstStyle/>
          <a:p>
            <a:pPr indent="0" marL="0">
              <a:buNone/>
            </a:pPr>
            <a:r>
              <a:rPr lang="en-US" sz="1200" b="1" dirty="0">
                <a:solidFill>
                  <a:srgbClr val="F8FAFC"/>
                </a:solidFill>
              </a:rPr>
              <a:t>Guardian: Paku the Red Panda</a:t>
            </a:r>
            <a:endParaRPr lang="en-US" sz="1200" dirty="0"/>
          </a:p>
        </p:txBody>
      </p:sp>
      <p:sp>
        <p:nvSpPr>
          <p:cNvPr id="11" name="Text 9"/>
          <p:cNvSpPr/>
          <p:nvPr/>
        </p:nvSpPr>
        <p:spPr>
          <a:xfrm>
            <a:off x="914400" y="2715768"/>
            <a:ext cx="3063240" cy="274320"/>
          </a:xfrm>
          <a:prstGeom prst="rect">
            <a:avLst/>
          </a:prstGeom>
          <a:noFill/>
          <a:ln/>
        </p:spPr>
        <p:txBody>
          <a:bodyPr wrap="square" rtlCol="0" anchor="ctr"/>
          <a:lstStyle/>
          <a:p>
            <a:pPr indent="0" marL="0">
              <a:buNone/>
            </a:pPr>
            <a:r>
              <a:rPr lang="en-US" sz="1000" b="1" dirty="0">
                <a:solidFill>
                  <a:srgbClr val="F59E0B"/>
                </a:solidFill>
              </a:rPr>
              <a:t>Linked Crop: Apple &amp; Berry Orchard</a:t>
            </a:r>
            <a:endParaRPr lang="en-US" sz="1000" dirty="0"/>
          </a:p>
        </p:txBody>
      </p:sp>
      <p:sp>
        <p:nvSpPr>
          <p:cNvPr id="12" name="Text 10"/>
          <p:cNvSpPr/>
          <p:nvPr/>
        </p:nvSpPr>
        <p:spPr>
          <a:xfrm>
            <a:off x="914400" y="3044952"/>
            <a:ext cx="3063240" cy="777240"/>
          </a:xfrm>
          <a:prstGeom prst="rect">
            <a:avLst/>
          </a:prstGeom>
          <a:noFill/>
          <a:ln/>
        </p:spPr>
        <p:txBody>
          <a:bodyPr wrap="square" rtlCol="0" anchor="ctr"/>
          <a:lstStyle/>
          <a:p>
            <a:pPr indent="0" marL="0">
              <a:lnSpc>
                <a:spcPts val="1400"/>
              </a:lnSpc>
              <a:buNone/>
            </a:pPr>
            <a:r>
              <a:rPr lang="en-US" sz="950" dirty="0">
                <a:solidFill>
                  <a:srgbClr val="94A3B8"/>
                </a:solidFill>
              </a:rPr>
              <a:t>Real Action: Social campaign &amp; canopy wildfire petition</a:t>
            </a:r>
            <a:endParaRPr lang="en-US" sz="950" dirty="0"/>
          </a:p>
        </p:txBody>
      </p:sp>
      <p:sp>
        <p:nvSpPr>
          <p:cNvPr id="13" name="Shape 11"/>
          <p:cNvSpPr/>
          <p:nvPr/>
        </p:nvSpPr>
        <p:spPr>
          <a:xfrm>
            <a:off x="4343400" y="1965960"/>
            <a:ext cx="3429000" cy="1965960"/>
          </a:xfrm>
          <a:prstGeom prst="roundRect">
            <a:avLst>
              <a:gd name="adj" fmla="val 5581"/>
            </a:avLst>
          </a:prstGeom>
          <a:solidFill>
            <a:srgbClr val="1E293B"/>
          </a:solidFill>
          <a:ln w="15240">
            <a:solidFill>
              <a:srgbClr val="0284C7"/>
            </a:solidFill>
            <a:prstDash val="solid"/>
          </a:ln>
        </p:spPr>
      </p:sp>
      <p:sp>
        <p:nvSpPr>
          <p:cNvPr id="14" name="Text 12"/>
          <p:cNvSpPr/>
          <p:nvPr/>
        </p:nvSpPr>
        <p:spPr>
          <a:xfrm>
            <a:off x="4526280" y="2103120"/>
            <a:ext cx="3063240" cy="228600"/>
          </a:xfrm>
          <a:prstGeom prst="rect">
            <a:avLst/>
          </a:prstGeom>
          <a:noFill/>
          <a:ln/>
        </p:spPr>
        <p:txBody>
          <a:bodyPr wrap="square" rtlCol="0" anchor="ctr"/>
          <a:lstStyle/>
          <a:p>
            <a:pPr indent="0" marL="0">
              <a:buNone/>
            </a:pPr>
            <a:r>
              <a:rPr lang="en-US" sz="900" b="1" spc="100" kern="0" dirty="0">
                <a:solidFill>
                  <a:srgbClr val="0284C7"/>
                </a:solidFill>
              </a:rPr>
              <a:t>CRYSTAL MARSH &amp; LAKE</a:t>
            </a:r>
            <a:endParaRPr lang="en-US" sz="900" dirty="0"/>
          </a:p>
        </p:txBody>
      </p:sp>
      <p:sp>
        <p:nvSpPr>
          <p:cNvPr id="15" name="Text 13"/>
          <p:cNvSpPr/>
          <p:nvPr/>
        </p:nvSpPr>
        <p:spPr>
          <a:xfrm>
            <a:off x="4526280" y="2377440"/>
            <a:ext cx="3063240" cy="320040"/>
          </a:xfrm>
          <a:prstGeom prst="rect">
            <a:avLst/>
          </a:prstGeom>
          <a:noFill/>
          <a:ln/>
        </p:spPr>
        <p:txBody>
          <a:bodyPr wrap="square" rtlCol="0" anchor="ctr"/>
          <a:lstStyle/>
          <a:p>
            <a:pPr indent="0" marL="0">
              <a:buNone/>
            </a:pPr>
            <a:r>
              <a:rPr lang="en-US" sz="1200" b="1" dirty="0">
                <a:solidFill>
                  <a:srgbClr val="F8FAFC"/>
                </a:solidFill>
              </a:rPr>
              <a:t>Guardian: Mo the Manatee</a:t>
            </a:r>
            <a:endParaRPr lang="en-US" sz="1200" dirty="0"/>
          </a:p>
        </p:txBody>
      </p:sp>
      <p:sp>
        <p:nvSpPr>
          <p:cNvPr id="16" name="Text 14"/>
          <p:cNvSpPr/>
          <p:nvPr/>
        </p:nvSpPr>
        <p:spPr>
          <a:xfrm>
            <a:off x="4526280" y="2715768"/>
            <a:ext cx="3063240" cy="274320"/>
          </a:xfrm>
          <a:prstGeom prst="rect">
            <a:avLst/>
          </a:prstGeom>
          <a:noFill/>
          <a:ln/>
        </p:spPr>
        <p:txBody>
          <a:bodyPr wrap="square" rtlCol="0" anchor="ctr"/>
          <a:lstStyle/>
          <a:p>
            <a:pPr indent="0" marL="0">
              <a:buNone/>
            </a:pPr>
            <a:r>
              <a:rPr lang="en-US" sz="1000" b="1" dirty="0">
                <a:solidFill>
                  <a:srgbClr val="F59E0B"/>
                </a:solidFill>
              </a:rPr>
              <a:t>Linked Crop: Golden Sweet Corn</a:t>
            </a:r>
            <a:endParaRPr lang="en-US" sz="1000" dirty="0"/>
          </a:p>
        </p:txBody>
      </p:sp>
      <p:sp>
        <p:nvSpPr>
          <p:cNvPr id="17" name="Text 15"/>
          <p:cNvSpPr/>
          <p:nvPr/>
        </p:nvSpPr>
        <p:spPr>
          <a:xfrm>
            <a:off x="4526280" y="3044952"/>
            <a:ext cx="3063240" cy="777240"/>
          </a:xfrm>
          <a:prstGeom prst="rect">
            <a:avLst/>
          </a:prstGeom>
          <a:noFill/>
          <a:ln/>
        </p:spPr>
        <p:txBody>
          <a:bodyPr wrap="square" rtlCol="0" anchor="ctr"/>
          <a:lstStyle/>
          <a:p>
            <a:pPr indent="0" marL="0">
              <a:lnSpc>
                <a:spcPts val="1400"/>
              </a:lnSpc>
              <a:buNone/>
            </a:pPr>
            <a:r>
              <a:rPr lang="en-US" sz="950" dirty="0">
                <a:solidFill>
                  <a:srgbClr val="94A3B8"/>
                </a:solidFill>
              </a:rPr>
              <a:t>Real Action: 5-stream circular recycling &amp; pump unblocking</a:t>
            </a:r>
            <a:endParaRPr lang="en-US" sz="950" dirty="0"/>
          </a:p>
        </p:txBody>
      </p:sp>
      <p:sp>
        <p:nvSpPr>
          <p:cNvPr id="18" name="Shape 16"/>
          <p:cNvSpPr/>
          <p:nvPr/>
        </p:nvSpPr>
        <p:spPr>
          <a:xfrm>
            <a:off x="7955280" y="1965960"/>
            <a:ext cx="3429000" cy="1965960"/>
          </a:xfrm>
          <a:prstGeom prst="roundRect">
            <a:avLst>
              <a:gd name="adj" fmla="val 5581"/>
            </a:avLst>
          </a:prstGeom>
          <a:solidFill>
            <a:srgbClr val="1E293B"/>
          </a:solidFill>
          <a:ln w="15240">
            <a:solidFill>
              <a:srgbClr val="06B6D4"/>
            </a:solidFill>
            <a:prstDash val="solid"/>
          </a:ln>
        </p:spPr>
      </p:sp>
      <p:sp>
        <p:nvSpPr>
          <p:cNvPr id="19" name="Text 17"/>
          <p:cNvSpPr/>
          <p:nvPr/>
        </p:nvSpPr>
        <p:spPr>
          <a:xfrm>
            <a:off x="8138160" y="2103120"/>
            <a:ext cx="3063240" cy="228600"/>
          </a:xfrm>
          <a:prstGeom prst="rect">
            <a:avLst/>
          </a:prstGeom>
          <a:noFill/>
          <a:ln/>
        </p:spPr>
        <p:txBody>
          <a:bodyPr wrap="square" rtlCol="0" anchor="ctr"/>
          <a:lstStyle/>
          <a:p>
            <a:pPr indent="0" marL="0">
              <a:buNone/>
            </a:pPr>
            <a:r>
              <a:rPr lang="en-US" sz="900" b="1" spc="100" kern="0" dirty="0">
                <a:solidFill>
                  <a:srgbClr val="06B6D4"/>
                </a:solidFill>
              </a:rPr>
              <a:t>GLACIAL PERMAFROST</a:t>
            </a:r>
            <a:endParaRPr lang="en-US" sz="900" dirty="0"/>
          </a:p>
        </p:txBody>
      </p:sp>
      <p:sp>
        <p:nvSpPr>
          <p:cNvPr id="20" name="Text 18"/>
          <p:cNvSpPr/>
          <p:nvPr/>
        </p:nvSpPr>
        <p:spPr>
          <a:xfrm>
            <a:off x="8138160" y="2377440"/>
            <a:ext cx="3063240" cy="320040"/>
          </a:xfrm>
          <a:prstGeom prst="rect">
            <a:avLst/>
          </a:prstGeom>
          <a:noFill/>
          <a:ln/>
        </p:spPr>
        <p:txBody>
          <a:bodyPr wrap="square" rtlCol="0" anchor="ctr"/>
          <a:lstStyle/>
          <a:p>
            <a:pPr indent="0" marL="0">
              <a:buNone/>
            </a:pPr>
            <a:r>
              <a:rPr lang="en-US" sz="1200" b="1" dirty="0">
                <a:solidFill>
                  <a:srgbClr val="F8FAFC"/>
                </a:solidFill>
              </a:rPr>
              <a:t>Guardian: Nanuk the Polar Bear</a:t>
            </a:r>
            <a:endParaRPr lang="en-US" sz="1200" dirty="0"/>
          </a:p>
        </p:txBody>
      </p:sp>
      <p:sp>
        <p:nvSpPr>
          <p:cNvPr id="21" name="Text 19"/>
          <p:cNvSpPr/>
          <p:nvPr/>
        </p:nvSpPr>
        <p:spPr>
          <a:xfrm>
            <a:off x="8138160" y="2715768"/>
            <a:ext cx="3063240" cy="274320"/>
          </a:xfrm>
          <a:prstGeom prst="rect">
            <a:avLst/>
          </a:prstGeom>
          <a:noFill/>
          <a:ln/>
        </p:spPr>
        <p:txBody>
          <a:bodyPr wrap="square" rtlCol="0" anchor="ctr"/>
          <a:lstStyle/>
          <a:p>
            <a:pPr indent="0" marL="0">
              <a:buNone/>
            </a:pPr>
            <a:r>
              <a:rPr lang="en-US" sz="1000" b="1" dirty="0">
                <a:solidFill>
                  <a:srgbClr val="F59E0B"/>
                </a:solidFill>
              </a:rPr>
              <a:t>Linked Crop: Glacial Winter Wheat</a:t>
            </a:r>
            <a:endParaRPr lang="en-US" sz="1000" dirty="0"/>
          </a:p>
        </p:txBody>
      </p:sp>
      <p:sp>
        <p:nvSpPr>
          <p:cNvPr id="22" name="Text 20"/>
          <p:cNvSpPr/>
          <p:nvPr/>
        </p:nvSpPr>
        <p:spPr>
          <a:xfrm>
            <a:off x="8138160" y="3044952"/>
            <a:ext cx="3063240" cy="777240"/>
          </a:xfrm>
          <a:prstGeom prst="rect">
            <a:avLst/>
          </a:prstGeom>
          <a:noFill/>
          <a:ln/>
        </p:spPr>
        <p:txBody>
          <a:bodyPr wrap="square" rtlCol="0" anchor="ctr"/>
          <a:lstStyle/>
          <a:p>
            <a:pPr indent="0" marL="0">
              <a:lnSpc>
                <a:spcPts val="1400"/>
              </a:lnSpc>
              <a:buNone/>
            </a:pPr>
            <a:r>
              <a:rPr lang="en-US" sz="950" dirty="0">
                <a:solidFill>
                  <a:srgbClr val="94A3B8"/>
                </a:solidFill>
              </a:rPr>
              <a:t>Real Action: Change.org Arctic petition &amp; 1.42M ton CO₂ calc</a:t>
            </a:r>
            <a:endParaRPr lang="en-US" sz="950" dirty="0"/>
          </a:p>
        </p:txBody>
      </p:sp>
      <p:sp>
        <p:nvSpPr>
          <p:cNvPr id="23" name="Shape 21"/>
          <p:cNvSpPr/>
          <p:nvPr/>
        </p:nvSpPr>
        <p:spPr>
          <a:xfrm>
            <a:off x="731520" y="4114800"/>
            <a:ext cx="3429000" cy="1965960"/>
          </a:xfrm>
          <a:prstGeom prst="roundRect">
            <a:avLst>
              <a:gd name="adj" fmla="val 5581"/>
            </a:avLst>
          </a:prstGeom>
          <a:solidFill>
            <a:srgbClr val="1E293B"/>
          </a:solidFill>
          <a:ln w="15240">
            <a:solidFill>
              <a:srgbClr val="EAB308"/>
            </a:solidFill>
            <a:prstDash val="solid"/>
          </a:ln>
        </p:spPr>
      </p:sp>
      <p:sp>
        <p:nvSpPr>
          <p:cNvPr id="24" name="Text 22"/>
          <p:cNvSpPr/>
          <p:nvPr/>
        </p:nvSpPr>
        <p:spPr>
          <a:xfrm>
            <a:off x="914400" y="4251960"/>
            <a:ext cx="3063240" cy="228600"/>
          </a:xfrm>
          <a:prstGeom prst="rect">
            <a:avLst/>
          </a:prstGeom>
          <a:noFill/>
          <a:ln/>
        </p:spPr>
        <p:txBody>
          <a:bodyPr wrap="square" rtlCol="0" anchor="ctr"/>
          <a:lstStyle/>
          <a:p>
            <a:pPr indent="0" marL="0">
              <a:buNone/>
            </a:pPr>
            <a:r>
              <a:rPr lang="en-US" sz="900" b="1" spc="100" kern="0" dirty="0">
                <a:solidFill>
                  <a:srgbClr val="EAB308"/>
                </a:solidFill>
              </a:rPr>
              <a:t>REGENERATIVE PRAIRIE</a:t>
            </a:r>
            <a:endParaRPr lang="en-US" sz="900" dirty="0"/>
          </a:p>
        </p:txBody>
      </p:sp>
      <p:sp>
        <p:nvSpPr>
          <p:cNvPr id="25" name="Text 23"/>
          <p:cNvSpPr/>
          <p:nvPr/>
        </p:nvSpPr>
        <p:spPr>
          <a:xfrm>
            <a:off x="914400" y="4526280"/>
            <a:ext cx="3063240" cy="320040"/>
          </a:xfrm>
          <a:prstGeom prst="rect">
            <a:avLst/>
          </a:prstGeom>
          <a:noFill/>
          <a:ln/>
        </p:spPr>
        <p:txBody>
          <a:bodyPr wrap="square" rtlCol="0" anchor="ctr"/>
          <a:lstStyle/>
          <a:p>
            <a:pPr indent="0" marL="0">
              <a:buNone/>
            </a:pPr>
            <a:r>
              <a:rPr lang="en-US" sz="1200" b="1" dirty="0">
                <a:solidFill>
                  <a:srgbClr val="F8FAFC"/>
                </a:solidFill>
              </a:rPr>
              <a:t>Guardian: Aura the Monarch</a:t>
            </a:r>
            <a:endParaRPr lang="en-US" sz="1200" dirty="0"/>
          </a:p>
        </p:txBody>
      </p:sp>
      <p:sp>
        <p:nvSpPr>
          <p:cNvPr id="26" name="Text 24"/>
          <p:cNvSpPr/>
          <p:nvPr/>
        </p:nvSpPr>
        <p:spPr>
          <a:xfrm>
            <a:off x="914400" y="4864608"/>
            <a:ext cx="3063240" cy="274320"/>
          </a:xfrm>
          <a:prstGeom prst="rect">
            <a:avLst/>
          </a:prstGeom>
          <a:noFill/>
          <a:ln/>
        </p:spPr>
        <p:txBody>
          <a:bodyPr wrap="square" rtlCol="0" anchor="ctr"/>
          <a:lstStyle/>
          <a:p>
            <a:pPr indent="0" marL="0">
              <a:buNone/>
            </a:pPr>
            <a:r>
              <a:rPr lang="en-US" sz="1000" b="1" dirty="0">
                <a:solidFill>
                  <a:srgbClr val="F59E0B"/>
                </a:solidFill>
              </a:rPr>
              <a:t>Linked Crop: Golden Sunflower</a:t>
            </a:r>
            <a:endParaRPr lang="en-US" sz="1000" dirty="0"/>
          </a:p>
        </p:txBody>
      </p:sp>
      <p:sp>
        <p:nvSpPr>
          <p:cNvPr id="27" name="Text 25"/>
          <p:cNvSpPr/>
          <p:nvPr/>
        </p:nvSpPr>
        <p:spPr>
          <a:xfrm>
            <a:off x="914400" y="5193792"/>
            <a:ext cx="3063240" cy="777240"/>
          </a:xfrm>
          <a:prstGeom prst="rect">
            <a:avLst/>
          </a:prstGeom>
          <a:noFill/>
          <a:ln/>
        </p:spPr>
        <p:txBody>
          <a:bodyPr wrap="square" rtlCol="0" anchor="ctr"/>
          <a:lstStyle/>
          <a:p>
            <a:pPr indent="0" marL="0">
              <a:lnSpc>
                <a:spcPts val="1400"/>
              </a:lnSpc>
              <a:buNone/>
            </a:pPr>
            <a:r>
              <a:rPr lang="en-US" sz="950" dirty="0">
                <a:solidFill>
                  <a:srgbClr val="94A3B8"/>
                </a:solidFill>
              </a:rPr>
              <a:t>Real Action: Bayer Smart Farming precision ag simulation</a:t>
            </a:r>
            <a:endParaRPr lang="en-US" sz="950" dirty="0"/>
          </a:p>
        </p:txBody>
      </p:sp>
      <p:sp>
        <p:nvSpPr>
          <p:cNvPr id="28" name="Shape 26"/>
          <p:cNvSpPr/>
          <p:nvPr/>
        </p:nvSpPr>
        <p:spPr>
          <a:xfrm>
            <a:off x="4343400" y="4114800"/>
            <a:ext cx="3429000" cy="1965960"/>
          </a:xfrm>
          <a:prstGeom prst="roundRect">
            <a:avLst>
              <a:gd name="adj" fmla="val 5581"/>
            </a:avLst>
          </a:prstGeom>
          <a:solidFill>
            <a:srgbClr val="1E293B"/>
          </a:solidFill>
          <a:ln w="15240">
            <a:solidFill>
              <a:srgbClr val="F97316"/>
            </a:solidFill>
            <a:prstDash val="solid"/>
          </a:ln>
        </p:spPr>
      </p:sp>
      <p:sp>
        <p:nvSpPr>
          <p:cNvPr id="29" name="Text 27"/>
          <p:cNvSpPr/>
          <p:nvPr/>
        </p:nvSpPr>
        <p:spPr>
          <a:xfrm>
            <a:off x="4526280" y="4251960"/>
            <a:ext cx="3063240" cy="228600"/>
          </a:xfrm>
          <a:prstGeom prst="rect">
            <a:avLst/>
          </a:prstGeom>
          <a:noFill/>
          <a:ln/>
        </p:spPr>
        <p:txBody>
          <a:bodyPr wrap="square" rtlCol="0" anchor="ctr"/>
          <a:lstStyle/>
          <a:p>
            <a:pPr indent="0" marL="0">
              <a:buNone/>
            </a:pPr>
            <a:r>
              <a:rPr lang="en-US" sz="900" b="1" spc="100" kern="0" dirty="0">
                <a:solidFill>
                  <a:srgbClr val="F97316"/>
                </a:solidFill>
              </a:rPr>
              <a:t>SUNFIRE SAVANNA</a:t>
            </a:r>
            <a:endParaRPr lang="en-US" sz="900" dirty="0"/>
          </a:p>
        </p:txBody>
      </p:sp>
      <p:sp>
        <p:nvSpPr>
          <p:cNvPr id="30" name="Text 28"/>
          <p:cNvSpPr/>
          <p:nvPr/>
        </p:nvSpPr>
        <p:spPr>
          <a:xfrm>
            <a:off x="4526280" y="4526280"/>
            <a:ext cx="3063240" cy="320040"/>
          </a:xfrm>
          <a:prstGeom prst="rect">
            <a:avLst/>
          </a:prstGeom>
          <a:noFill/>
          <a:ln/>
        </p:spPr>
        <p:txBody>
          <a:bodyPr wrap="square" rtlCol="0" anchor="ctr"/>
          <a:lstStyle/>
          <a:p>
            <a:pPr indent="0" marL="0">
              <a:buNone/>
            </a:pPr>
            <a:r>
              <a:rPr lang="en-US" sz="1200" b="1" dirty="0">
                <a:solidFill>
                  <a:srgbClr val="F8FAFC"/>
                </a:solidFill>
              </a:rPr>
              <a:t>Guardian: Zuri the Cheetah</a:t>
            </a:r>
            <a:endParaRPr lang="en-US" sz="1200" dirty="0"/>
          </a:p>
        </p:txBody>
      </p:sp>
      <p:sp>
        <p:nvSpPr>
          <p:cNvPr id="31" name="Text 29"/>
          <p:cNvSpPr/>
          <p:nvPr/>
        </p:nvSpPr>
        <p:spPr>
          <a:xfrm>
            <a:off x="4526280" y="4864608"/>
            <a:ext cx="3063240" cy="274320"/>
          </a:xfrm>
          <a:prstGeom prst="rect">
            <a:avLst/>
          </a:prstGeom>
          <a:noFill/>
          <a:ln/>
        </p:spPr>
        <p:txBody>
          <a:bodyPr wrap="square" rtlCol="0" anchor="ctr"/>
          <a:lstStyle/>
          <a:p>
            <a:pPr indent="0" marL="0">
              <a:buNone/>
            </a:pPr>
            <a:r>
              <a:rPr lang="en-US" sz="1000" b="1" dirty="0">
                <a:solidFill>
                  <a:srgbClr val="F59E0B"/>
                </a:solidFill>
              </a:rPr>
              <a:t>Linked Crop: Drought Heirloom Soy</a:t>
            </a:r>
            <a:endParaRPr lang="en-US" sz="1000" dirty="0"/>
          </a:p>
        </p:txBody>
      </p:sp>
      <p:sp>
        <p:nvSpPr>
          <p:cNvPr id="32" name="Text 30"/>
          <p:cNvSpPr/>
          <p:nvPr/>
        </p:nvSpPr>
        <p:spPr>
          <a:xfrm>
            <a:off x="4526280" y="5193792"/>
            <a:ext cx="3063240" cy="777240"/>
          </a:xfrm>
          <a:prstGeom prst="rect">
            <a:avLst/>
          </a:prstGeom>
          <a:noFill/>
          <a:ln/>
        </p:spPr>
        <p:txBody>
          <a:bodyPr wrap="square" rtlCol="0" anchor="ctr"/>
          <a:lstStyle/>
          <a:p>
            <a:pPr indent="0" marL="0">
              <a:lnSpc>
                <a:spcPts val="1400"/>
              </a:lnSpc>
              <a:buNone/>
            </a:pPr>
            <a:r>
              <a:rPr lang="en-US" sz="950" dirty="0">
                <a:solidFill>
                  <a:srgbClr val="94A3B8"/>
                </a:solidFill>
              </a:rPr>
              <a:t>Real Action: Solar artesian wellspring &amp; green shelterbelt</a:t>
            </a:r>
            <a:endParaRPr lang="en-US" sz="950" dirty="0"/>
          </a:p>
        </p:txBody>
      </p:sp>
      <p:sp>
        <p:nvSpPr>
          <p:cNvPr id="33" name="Shape 31"/>
          <p:cNvSpPr/>
          <p:nvPr/>
        </p:nvSpPr>
        <p:spPr>
          <a:xfrm>
            <a:off x="7955280" y="4114800"/>
            <a:ext cx="3429000" cy="1965960"/>
          </a:xfrm>
          <a:prstGeom prst="roundRect">
            <a:avLst>
              <a:gd name="adj" fmla="val 5581"/>
            </a:avLst>
          </a:prstGeom>
          <a:solidFill>
            <a:srgbClr val="1E293B"/>
          </a:solidFill>
          <a:ln w="15240">
            <a:solidFill>
              <a:srgbClr val="0D9488"/>
            </a:solidFill>
            <a:prstDash val="solid"/>
          </a:ln>
        </p:spPr>
      </p:sp>
      <p:sp>
        <p:nvSpPr>
          <p:cNvPr id="34" name="Text 32"/>
          <p:cNvSpPr/>
          <p:nvPr/>
        </p:nvSpPr>
        <p:spPr>
          <a:xfrm>
            <a:off x="8138160" y="4251960"/>
            <a:ext cx="3063240" cy="228600"/>
          </a:xfrm>
          <a:prstGeom prst="rect">
            <a:avLst/>
          </a:prstGeom>
          <a:noFill/>
          <a:ln/>
        </p:spPr>
        <p:txBody>
          <a:bodyPr wrap="square" rtlCol="0" anchor="ctr"/>
          <a:lstStyle/>
          <a:p>
            <a:pPr indent="0" marL="0">
              <a:buNone/>
            </a:pPr>
            <a:r>
              <a:rPr lang="en-US" sz="900" b="1" spc="100" kern="0" dirty="0">
                <a:solidFill>
                  <a:srgbClr val="0D9488"/>
                </a:solidFill>
              </a:rPr>
              <a:t>HAWKSBILL BARRIER REEF</a:t>
            </a:r>
            <a:endParaRPr lang="en-US" sz="900" dirty="0"/>
          </a:p>
        </p:txBody>
      </p:sp>
      <p:sp>
        <p:nvSpPr>
          <p:cNvPr id="35" name="Text 33"/>
          <p:cNvSpPr/>
          <p:nvPr/>
        </p:nvSpPr>
        <p:spPr>
          <a:xfrm>
            <a:off x="8138160" y="4526280"/>
            <a:ext cx="3063240" cy="320040"/>
          </a:xfrm>
          <a:prstGeom prst="rect">
            <a:avLst/>
          </a:prstGeom>
          <a:noFill/>
          <a:ln/>
        </p:spPr>
        <p:txBody>
          <a:bodyPr wrap="square" rtlCol="0" anchor="ctr"/>
          <a:lstStyle/>
          <a:p>
            <a:pPr indent="0" marL="0">
              <a:buNone/>
            </a:pPr>
            <a:r>
              <a:rPr lang="en-US" sz="1200" b="1" dirty="0">
                <a:solidFill>
                  <a:srgbClr val="F8FAFC"/>
                </a:solidFill>
              </a:rPr>
              <a:t>Guardian: Coralia the Sea Turtle</a:t>
            </a:r>
            <a:endParaRPr lang="en-US" sz="1200" dirty="0"/>
          </a:p>
        </p:txBody>
      </p:sp>
      <p:sp>
        <p:nvSpPr>
          <p:cNvPr id="36" name="Text 34"/>
          <p:cNvSpPr/>
          <p:nvPr/>
        </p:nvSpPr>
        <p:spPr>
          <a:xfrm>
            <a:off x="8138160" y="4864608"/>
            <a:ext cx="3063240" cy="274320"/>
          </a:xfrm>
          <a:prstGeom prst="rect">
            <a:avLst/>
          </a:prstGeom>
          <a:noFill/>
          <a:ln/>
        </p:spPr>
        <p:txBody>
          <a:bodyPr wrap="square" rtlCol="0" anchor="ctr"/>
          <a:lstStyle/>
          <a:p>
            <a:pPr indent="0" marL="0">
              <a:buNone/>
            </a:pPr>
            <a:r>
              <a:rPr lang="en-US" sz="1000" b="1" dirty="0">
                <a:solidFill>
                  <a:srgbClr val="F59E0B"/>
                </a:solidFill>
              </a:rPr>
              <a:t>Linked Crop: Coastal Heritage Barley</a:t>
            </a:r>
            <a:endParaRPr lang="en-US" sz="1000" dirty="0"/>
          </a:p>
        </p:txBody>
      </p:sp>
      <p:sp>
        <p:nvSpPr>
          <p:cNvPr id="37" name="Text 35"/>
          <p:cNvSpPr/>
          <p:nvPr/>
        </p:nvSpPr>
        <p:spPr>
          <a:xfrm>
            <a:off x="8138160" y="5193792"/>
            <a:ext cx="3063240" cy="777240"/>
          </a:xfrm>
          <a:prstGeom prst="rect">
            <a:avLst/>
          </a:prstGeom>
          <a:noFill/>
          <a:ln/>
        </p:spPr>
        <p:txBody>
          <a:bodyPr wrap="square" rtlCol="0" anchor="ctr"/>
          <a:lstStyle/>
          <a:p>
            <a:pPr indent="0" marL="0">
              <a:lnSpc>
                <a:spcPts val="1400"/>
              </a:lnSpc>
              <a:buNone/>
            </a:pPr>
            <a:r>
              <a:rPr lang="en-US" sz="950" dirty="0">
                <a:solidFill>
                  <a:srgbClr val="94A3B8"/>
                </a:solidFill>
              </a:rPr>
              <a:t>Real Action: Marine radar GPS rerouting &amp; coral pledge</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31520" y="457200"/>
            <a:ext cx="2011680" cy="320040"/>
          </a:xfrm>
          <a:prstGeom prst="roundRect">
            <a:avLst>
              <a:gd name="adj" fmla="val 42857"/>
            </a:avLst>
          </a:prstGeom>
          <a:solidFill>
            <a:srgbClr val="065F46"/>
          </a:solidFill>
          <a:ln w="12700">
            <a:solidFill>
              <a:srgbClr val="10B981"/>
            </a:solidFill>
            <a:prstDash val="solid"/>
          </a:ln>
        </p:spPr>
      </p:sp>
      <p:sp>
        <p:nvSpPr>
          <p:cNvPr id="3" name="Text 1"/>
          <p:cNvSpPr/>
          <p:nvPr/>
        </p:nvSpPr>
        <p:spPr>
          <a:xfrm>
            <a:off x="731520" y="457200"/>
            <a:ext cx="2011680" cy="320040"/>
          </a:xfrm>
          <a:prstGeom prst="rect">
            <a:avLst/>
          </a:prstGeom>
          <a:noFill/>
          <a:ln/>
        </p:spPr>
        <p:txBody>
          <a:bodyPr wrap="square" rtlCol="0" anchor="ctr"/>
          <a:lstStyle/>
          <a:p>
            <a:pPr algn="ctr" indent="0" marL="0">
              <a:buNone/>
            </a:pPr>
            <a:r>
              <a:rPr lang="en-US" sz="1000" b="1" dirty="0">
                <a:solidFill>
                  <a:srgbClr val="10B981"/>
                </a:solidFill>
              </a:rPr>
              <a:t>ARTIFICIAL INTELLIGENCE</a:t>
            </a:r>
            <a:endParaRPr lang="en-US" sz="1000" dirty="0"/>
          </a:p>
        </p:txBody>
      </p:sp>
      <p:sp>
        <p:nvSpPr>
          <p:cNvPr id="4" name="Text 2"/>
          <p:cNvSpPr/>
          <p:nvPr/>
        </p:nvSpPr>
        <p:spPr>
          <a:xfrm>
            <a:off x="731520" y="868680"/>
            <a:ext cx="10515600" cy="594360"/>
          </a:xfrm>
          <a:prstGeom prst="rect">
            <a:avLst/>
          </a:prstGeom>
          <a:noFill/>
          <a:ln/>
        </p:spPr>
        <p:txBody>
          <a:bodyPr wrap="square" rtlCol="0" anchor="ctr"/>
          <a:lstStyle/>
          <a:p>
            <a:pPr indent="0" marL="0">
              <a:buNone/>
            </a:pPr>
            <a:r>
              <a:rPr lang="en-US" sz="2600" b="1" dirty="0">
                <a:solidFill>
                  <a:srgbClr val="F8FAFC"/>
                </a:solidFill>
                <a:latin typeface="Arial" pitchFamily="34" charset="0"/>
                <a:ea typeface="Arial" pitchFamily="34" charset="-122"/>
                <a:cs typeface="Arial" pitchFamily="34" charset="-120"/>
              </a:rPr>
              <a:t>Living Personas: Google Gemini 1.5 Flash Integration</a:t>
            </a:r>
            <a:endParaRPr lang="en-US" sz="2600" dirty="0"/>
          </a:p>
        </p:txBody>
      </p:sp>
      <p:sp>
        <p:nvSpPr>
          <p:cNvPr id="5" name="Text 3"/>
          <p:cNvSpPr/>
          <p:nvPr/>
        </p:nvSpPr>
        <p:spPr>
          <a:xfrm>
            <a:off x="731520" y="1463040"/>
            <a:ext cx="10515600" cy="36576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Empathetic, scientifically grounded conversational agents educating players in real time</a:t>
            </a:r>
            <a:endParaRPr lang="en-US" sz="1300" dirty="0"/>
          </a:p>
        </p:txBody>
      </p:sp>
      <p:sp>
        <p:nvSpPr>
          <p:cNvPr id="6" name="Text 4"/>
          <p:cNvSpPr/>
          <p:nvPr/>
        </p:nvSpPr>
        <p:spPr>
          <a:xfrm>
            <a:off x="731520" y="6400800"/>
            <a:ext cx="8229600" cy="274320"/>
          </a:xfrm>
          <a:prstGeom prst="rect">
            <a:avLst/>
          </a:prstGeom>
          <a:noFill/>
          <a:ln/>
        </p:spPr>
        <p:txBody>
          <a:bodyPr wrap="square" rtlCol="0" anchor="ctr"/>
          <a:lstStyle/>
          <a:p>
            <a:pPr indent="0" marL="0">
              <a:buNone/>
            </a:pPr>
            <a:r>
              <a:rPr lang="en-US" sz="900" dirty="0">
                <a:solidFill>
                  <a:srgbClr val="64748B"/>
                </a:solidFill>
              </a:rPr>
              <a:t>FIELD TO FUTURE: BLOOM  |  Bayer Hackathon Track: Agriculture &amp; Sustainability</a:t>
            </a:r>
            <a:endParaRPr lang="en-US" sz="900" dirty="0"/>
          </a:p>
        </p:txBody>
      </p:sp>
      <p:sp>
        <p:nvSpPr>
          <p:cNvPr id="7" name="Text 5"/>
          <p:cNvSpPr/>
          <p:nvPr/>
        </p:nvSpPr>
        <p:spPr>
          <a:xfrm>
            <a:off x="10515600" y="6400800"/>
            <a:ext cx="914400" cy="274320"/>
          </a:xfrm>
          <a:prstGeom prst="rect">
            <a:avLst/>
          </a:prstGeom>
          <a:noFill/>
          <a:ln/>
        </p:spPr>
        <p:txBody>
          <a:bodyPr wrap="square" rtlCol="0" anchor="ctr"/>
          <a:lstStyle/>
          <a:p>
            <a:pPr algn="r" indent="0" marL="0">
              <a:buNone/>
            </a:pPr>
            <a:r>
              <a:rPr lang="en-US" sz="900" dirty="0">
                <a:solidFill>
                  <a:srgbClr val="64748B"/>
                </a:solidFill>
              </a:rPr>
              <a:t>6 / 12</a:t>
            </a:r>
            <a:endParaRPr lang="en-US" sz="900" dirty="0"/>
          </a:p>
        </p:txBody>
      </p:sp>
      <p:sp>
        <p:nvSpPr>
          <p:cNvPr id="8" name="Shape 6"/>
          <p:cNvSpPr/>
          <p:nvPr/>
        </p:nvSpPr>
        <p:spPr>
          <a:xfrm>
            <a:off x="731520" y="1965960"/>
            <a:ext cx="5257800" cy="4206240"/>
          </a:xfrm>
          <a:prstGeom prst="roundRect">
            <a:avLst>
              <a:gd name="adj" fmla="val 3261"/>
            </a:avLst>
          </a:prstGeom>
          <a:solidFill>
            <a:srgbClr val="1E293B"/>
          </a:solidFill>
          <a:ln w="12700">
            <a:solidFill>
              <a:srgbClr val="334155"/>
            </a:solidFill>
            <a:prstDash val="solid"/>
          </a:ln>
        </p:spPr>
      </p:sp>
      <p:sp>
        <p:nvSpPr>
          <p:cNvPr id="9" name="Text 7"/>
          <p:cNvSpPr/>
          <p:nvPr/>
        </p:nvSpPr>
        <p:spPr>
          <a:xfrm>
            <a:off x="1005840" y="2148840"/>
            <a:ext cx="4709160" cy="274320"/>
          </a:xfrm>
          <a:prstGeom prst="rect">
            <a:avLst/>
          </a:prstGeom>
          <a:noFill/>
          <a:ln/>
        </p:spPr>
        <p:txBody>
          <a:bodyPr wrap="square" rtlCol="0" anchor="ctr"/>
          <a:lstStyle/>
          <a:p>
            <a:pPr indent="0" marL="0">
              <a:buNone/>
            </a:pPr>
            <a:r>
              <a:rPr lang="en-US" sz="1000" b="1" spc="150" kern="0" dirty="0">
                <a:solidFill>
                  <a:srgbClr val="06B6D4"/>
                </a:solidFill>
              </a:rPr>
              <a:t>GEMINI 1.5 FLASH ORCHESTRATION</a:t>
            </a:r>
            <a:endParaRPr lang="en-US" sz="1000" dirty="0"/>
          </a:p>
        </p:txBody>
      </p:sp>
      <p:sp>
        <p:nvSpPr>
          <p:cNvPr id="10" name="Text 8"/>
          <p:cNvSpPr/>
          <p:nvPr/>
        </p:nvSpPr>
        <p:spPr>
          <a:xfrm>
            <a:off x="1005840" y="2468880"/>
            <a:ext cx="4709160" cy="502920"/>
          </a:xfrm>
          <a:prstGeom prst="rect">
            <a:avLst/>
          </a:prstGeom>
          <a:noFill/>
          <a:ln/>
        </p:spPr>
        <p:txBody>
          <a:bodyPr wrap="square" rtlCol="0" anchor="ctr"/>
          <a:lstStyle/>
          <a:p>
            <a:pPr indent="0" marL="0">
              <a:buNone/>
            </a:pPr>
            <a:r>
              <a:rPr lang="en-US" sz="1500" b="1" dirty="0">
                <a:solidFill>
                  <a:srgbClr val="F8FAFC"/>
                </a:solidFill>
              </a:rPr>
              <a:t>Context-Aware Dynamic System Prompts</a:t>
            </a:r>
            <a:endParaRPr lang="en-US" sz="1500" dirty="0"/>
          </a:p>
        </p:txBody>
      </p:sp>
      <p:sp>
        <p:nvSpPr>
          <p:cNvPr id="11" name="Text 9"/>
          <p:cNvSpPr/>
          <p:nvPr/>
        </p:nvSpPr>
        <p:spPr>
          <a:xfrm>
            <a:off x="1005840" y="3063240"/>
            <a:ext cx="4709160" cy="640080"/>
          </a:xfrm>
          <a:prstGeom prst="rect">
            <a:avLst/>
          </a:prstGeom>
          <a:noFill/>
          <a:ln/>
        </p:spPr>
        <p:txBody>
          <a:bodyPr wrap="square" rtlCol="0" anchor="ctr"/>
          <a:lstStyle/>
          <a:p>
            <a:pPr indent="0" marL="0">
              <a:lnSpc>
                <a:spcPts val="1600"/>
              </a:lnSpc>
              <a:buNone/>
            </a:pPr>
            <a:r>
              <a:rPr lang="en-US" sz="1000" dirty="0">
                <a:solidFill>
                  <a:srgbClr val="94A3B8"/>
                </a:solidFill>
              </a:rPr>
              <a:t>• Live State Injection: System prompts inject current biome flourish percentage (0%-100%), active threats, and farm health.</a:t>
            </a:r>
            <a:endParaRPr lang="en-US" sz="1000" dirty="0"/>
          </a:p>
        </p:txBody>
      </p:sp>
      <p:sp>
        <p:nvSpPr>
          <p:cNvPr id="12" name="Text 10"/>
          <p:cNvSpPr/>
          <p:nvPr/>
        </p:nvSpPr>
        <p:spPr>
          <a:xfrm>
            <a:off x="1005840" y="3749040"/>
            <a:ext cx="4709160" cy="640080"/>
          </a:xfrm>
          <a:prstGeom prst="rect">
            <a:avLst/>
          </a:prstGeom>
          <a:noFill/>
          <a:ln/>
        </p:spPr>
        <p:txBody>
          <a:bodyPr wrap="square" rtlCol="0" anchor="ctr"/>
          <a:lstStyle/>
          <a:p>
            <a:pPr indent="0" marL="0">
              <a:lnSpc>
                <a:spcPts val="1600"/>
              </a:lnSpc>
              <a:buNone/>
            </a:pPr>
            <a:r>
              <a:rPr lang="en-US" sz="1000" dirty="0">
                <a:solidFill>
                  <a:srgbClr val="94A3B8"/>
                </a:solidFill>
              </a:rPr>
              <a:t>• Scientific Persona Tuning: Characters exhibit real behavioral mannerisms (*twitches ears*, *surfaces gently*) while imparting peer-reviewed agricultural science.</a:t>
            </a:r>
            <a:endParaRPr lang="en-US" sz="1000" dirty="0"/>
          </a:p>
        </p:txBody>
      </p:sp>
      <p:sp>
        <p:nvSpPr>
          <p:cNvPr id="13" name="Text 11"/>
          <p:cNvSpPr/>
          <p:nvPr/>
        </p:nvSpPr>
        <p:spPr>
          <a:xfrm>
            <a:off x="1005840" y="4434840"/>
            <a:ext cx="4709160" cy="640080"/>
          </a:xfrm>
          <a:prstGeom prst="rect">
            <a:avLst/>
          </a:prstGeom>
          <a:noFill/>
          <a:ln/>
        </p:spPr>
        <p:txBody>
          <a:bodyPr wrap="square" rtlCol="0" anchor="ctr"/>
          <a:lstStyle/>
          <a:p>
            <a:pPr indent="0" marL="0">
              <a:lnSpc>
                <a:spcPts val="1600"/>
              </a:lnSpc>
              <a:buNone/>
            </a:pPr>
            <a:r>
              <a:rPr lang="en-US" sz="1000" dirty="0">
                <a:solidFill>
                  <a:srgbClr val="94A3B8"/>
                </a:solidFill>
              </a:rPr>
              <a:t>• Dual-Tier Zero-Fail Architecture: High-speed edge route with Gemini 1.5 Flash streaming. If an API key is absent, an offline simulation engine seamlessly responds with zero latency.</a:t>
            </a:r>
            <a:endParaRPr lang="en-US" sz="1000" dirty="0"/>
          </a:p>
        </p:txBody>
      </p:sp>
      <p:sp>
        <p:nvSpPr>
          <p:cNvPr id="14" name="Text 12"/>
          <p:cNvSpPr/>
          <p:nvPr/>
        </p:nvSpPr>
        <p:spPr>
          <a:xfrm>
            <a:off x="1005840" y="5120640"/>
            <a:ext cx="4709160" cy="640080"/>
          </a:xfrm>
          <a:prstGeom prst="rect">
            <a:avLst/>
          </a:prstGeom>
          <a:noFill/>
          <a:ln/>
        </p:spPr>
        <p:txBody>
          <a:bodyPr wrap="square" rtlCol="0" anchor="ctr"/>
          <a:lstStyle/>
          <a:p>
            <a:pPr indent="0" marL="0">
              <a:lnSpc>
                <a:spcPts val="1600"/>
              </a:lnSpc>
              <a:buNone/>
            </a:pPr>
            <a:r>
              <a:rPr lang="en-US" sz="1000" dirty="0">
                <a:solidFill>
                  <a:srgbClr val="94A3B8"/>
                </a:solidFill>
              </a:rPr>
              <a:t>• Real-time Audio Synthesizer: Animal voice pitches are dynamically modulated using the Web Audio API for expressive feedback.</a:t>
            </a:r>
            <a:endParaRPr lang="en-US" sz="1000" dirty="0"/>
          </a:p>
        </p:txBody>
      </p:sp>
      <p:sp>
        <p:nvSpPr>
          <p:cNvPr id="15" name="Shape 13"/>
          <p:cNvSpPr/>
          <p:nvPr/>
        </p:nvSpPr>
        <p:spPr>
          <a:xfrm>
            <a:off x="6172200" y="1965960"/>
            <a:ext cx="5257800" cy="4206240"/>
          </a:xfrm>
          <a:prstGeom prst="roundRect">
            <a:avLst>
              <a:gd name="adj" fmla="val 3261"/>
            </a:avLst>
          </a:prstGeom>
          <a:solidFill>
            <a:srgbClr val="111E2E"/>
          </a:solidFill>
          <a:ln w="12700">
            <a:solidFill>
              <a:srgbClr val="06B6D4"/>
            </a:solidFill>
            <a:prstDash val="solid"/>
          </a:ln>
        </p:spPr>
      </p:sp>
      <p:sp>
        <p:nvSpPr>
          <p:cNvPr id="16" name="Text 14"/>
          <p:cNvSpPr/>
          <p:nvPr/>
        </p:nvSpPr>
        <p:spPr>
          <a:xfrm>
            <a:off x="6446520" y="2148840"/>
            <a:ext cx="4709160" cy="274320"/>
          </a:xfrm>
          <a:prstGeom prst="rect">
            <a:avLst/>
          </a:prstGeom>
          <a:noFill/>
          <a:ln/>
        </p:spPr>
        <p:txBody>
          <a:bodyPr wrap="square" rtlCol="0" anchor="ctr"/>
          <a:lstStyle/>
          <a:p>
            <a:pPr indent="0" marL="0">
              <a:buNone/>
            </a:pPr>
            <a:r>
              <a:rPr lang="en-US" sz="1000" b="1" spc="150" kern="0" dirty="0">
                <a:solidFill>
                  <a:srgbClr val="06B6D4"/>
                </a:solidFill>
              </a:rPr>
              <a:t>LIVE INTERACTION PREVIEW</a:t>
            </a:r>
            <a:endParaRPr lang="en-US" sz="1000" dirty="0"/>
          </a:p>
        </p:txBody>
      </p:sp>
      <p:sp>
        <p:nvSpPr>
          <p:cNvPr id="17" name="Shape 15"/>
          <p:cNvSpPr/>
          <p:nvPr/>
        </p:nvSpPr>
        <p:spPr>
          <a:xfrm>
            <a:off x="6446520" y="2606040"/>
            <a:ext cx="4709160" cy="685800"/>
          </a:xfrm>
          <a:prstGeom prst="roundRect">
            <a:avLst>
              <a:gd name="adj" fmla="val 13333"/>
            </a:avLst>
          </a:prstGeom>
          <a:solidFill>
            <a:srgbClr val="1E293B"/>
          </a:solidFill>
          <a:ln w="12700">
            <a:solidFill>
              <a:srgbClr val="334155"/>
            </a:solidFill>
            <a:prstDash val="solid"/>
          </a:ln>
        </p:spPr>
      </p:sp>
      <p:sp>
        <p:nvSpPr>
          <p:cNvPr id="18" name="Text 16"/>
          <p:cNvSpPr/>
          <p:nvPr/>
        </p:nvSpPr>
        <p:spPr>
          <a:xfrm>
            <a:off x="6583680" y="2697480"/>
            <a:ext cx="4434840" cy="502920"/>
          </a:xfrm>
          <a:prstGeom prst="rect">
            <a:avLst/>
          </a:prstGeom>
          <a:noFill/>
          <a:ln/>
        </p:spPr>
        <p:txBody>
          <a:bodyPr wrap="square" rtlCol="0" anchor="ctr"/>
          <a:lstStyle/>
          <a:p>
            <a:pPr indent="0" marL="0">
              <a:buNone/>
            </a:pPr>
            <a:r>
              <a:rPr lang="en-US" sz="1000" i="1" dirty="0">
                <a:solidFill>
                  <a:srgbClr val="F8FAFC"/>
                </a:solidFill>
              </a:rPr>
              <a:t>Player: "Why are the central farm crops dying if the wildfires are miles away up in your mountain?"</a:t>
            </a:r>
            <a:endParaRPr lang="en-US" sz="1000" dirty="0"/>
          </a:p>
        </p:txBody>
      </p:sp>
      <p:sp>
        <p:nvSpPr>
          <p:cNvPr id="19" name="Shape 17"/>
          <p:cNvSpPr/>
          <p:nvPr/>
        </p:nvSpPr>
        <p:spPr>
          <a:xfrm>
            <a:off x="6446520" y="3474720"/>
            <a:ext cx="4709160" cy="1554480"/>
          </a:xfrm>
          <a:prstGeom prst="roundRect">
            <a:avLst>
              <a:gd name="adj" fmla="val 5882"/>
            </a:avLst>
          </a:prstGeom>
          <a:solidFill>
            <a:srgbClr val="0F2D3D"/>
          </a:solidFill>
          <a:ln w="12700">
            <a:solidFill>
              <a:srgbClr val="06B6D4"/>
            </a:solidFill>
            <a:prstDash val="solid"/>
          </a:ln>
        </p:spPr>
      </p:sp>
      <p:sp>
        <p:nvSpPr>
          <p:cNvPr id="20" name="Text 18"/>
          <p:cNvSpPr/>
          <p:nvPr/>
        </p:nvSpPr>
        <p:spPr>
          <a:xfrm>
            <a:off x="6583680" y="3611880"/>
            <a:ext cx="4434840" cy="274320"/>
          </a:xfrm>
          <a:prstGeom prst="rect">
            <a:avLst/>
          </a:prstGeom>
          <a:noFill/>
          <a:ln/>
        </p:spPr>
        <p:txBody>
          <a:bodyPr wrap="square" rtlCol="0" anchor="ctr"/>
          <a:lstStyle/>
          <a:p>
            <a:pPr indent="0" marL="0">
              <a:buNone/>
            </a:pPr>
            <a:r>
              <a:rPr lang="en-US" sz="1050" b="1" dirty="0">
                <a:solidFill>
                  <a:srgbClr val="7DD3FC"/>
                </a:solidFill>
              </a:rPr>
              <a:t>🦊 Paku (Red Panda) via Gemini 1.5 Flash:</a:t>
            </a:r>
            <a:endParaRPr lang="en-US" sz="1050" dirty="0"/>
          </a:p>
        </p:txBody>
      </p:sp>
      <p:sp>
        <p:nvSpPr>
          <p:cNvPr id="21" name="Text 19"/>
          <p:cNvSpPr/>
          <p:nvPr/>
        </p:nvSpPr>
        <p:spPr>
          <a:xfrm>
            <a:off x="6583680" y="3931920"/>
            <a:ext cx="4434840" cy="1005840"/>
          </a:xfrm>
          <a:prstGeom prst="rect">
            <a:avLst/>
          </a:prstGeom>
          <a:noFill/>
          <a:ln/>
        </p:spPr>
        <p:txBody>
          <a:bodyPr wrap="square" rtlCol="0" anchor="ctr"/>
          <a:lstStyle/>
          <a:p>
            <a:pPr indent="0" marL="0">
              <a:lnSpc>
                <a:spcPts val="1500"/>
              </a:lnSpc>
              <a:buNone/>
            </a:pPr>
            <a:r>
              <a:rPr lang="en-US" sz="950" dirty="0">
                <a:solidFill>
                  <a:srgbClr val="F8FAFC"/>
                </a:solidFill>
              </a:rPr>
              <a:t>"*huffs softly, tail twitching* Mountain thermals push our smoke and hot ash straight down into the valley! The smog cuts solar radiation by 40%, stalling photosynthesis, while settling ash burns delicate blossoms and suffocates the wild bees. Protect the canopy, and you feed the farm!"</a:t>
            </a:r>
            <a:endParaRPr lang="en-US" sz="950" dirty="0"/>
          </a:p>
        </p:txBody>
      </p:sp>
      <p:sp>
        <p:nvSpPr>
          <p:cNvPr id="22" name="Shape 20"/>
          <p:cNvSpPr/>
          <p:nvPr/>
        </p:nvSpPr>
        <p:spPr>
          <a:xfrm>
            <a:off x="6446520" y="5257800"/>
            <a:ext cx="4709160" cy="685800"/>
          </a:xfrm>
          <a:prstGeom prst="roundRect">
            <a:avLst>
              <a:gd name="adj" fmla="val 10667"/>
            </a:avLst>
          </a:prstGeom>
          <a:solidFill>
            <a:srgbClr val="163322"/>
          </a:solidFill>
          <a:ln w="12700">
            <a:solidFill>
              <a:srgbClr val="10B981"/>
            </a:solidFill>
            <a:prstDash val="solid"/>
          </a:ln>
        </p:spPr>
      </p:sp>
      <p:sp>
        <p:nvSpPr>
          <p:cNvPr id="23" name="Text 21"/>
          <p:cNvSpPr/>
          <p:nvPr/>
        </p:nvSpPr>
        <p:spPr>
          <a:xfrm>
            <a:off x="6583680" y="5440680"/>
            <a:ext cx="4434840" cy="320040"/>
          </a:xfrm>
          <a:prstGeom prst="rect">
            <a:avLst/>
          </a:prstGeom>
          <a:noFill/>
          <a:ln/>
        </p:spPr>
        <p:txBody>
          <a:bodyPr wrap="square" rtlCol="0" anchor="ctr"/>
          <a:lstStyle/>
          <a:p>
            <a:pPr algn="ctr" indent="0" marL="0">
              <a:buNone/>
            </a:pPr>
            <a:r>
              <a:rPr lang="en-US" sz="1000" b="1" dirty="0">
                <a:solidFill>
                  <a:srgbClr val="10B981"/>
                </a:solidFill>
              </a:rPr>
              <a:t>⚡ Sub-300ms Time-to-First-Token | Streaming LLM Dialogues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31520" y="457200"/>
            <a:ext cx="2011680" cy="320040"/>
          </a:xfrm>
          <a:prstGeom prst="roundRect">
            <a:avLst>
              <a:gd name="adj" fmla="val 42857"/>
            </a:avLst>
          </a:prstGeom>
          <a:solidFill>
            <a:srgbClr val="065F46"/>
          </a:solidFill>
          <a:ln w="12700">
            <a:solidFill>
              <a:srgbClr val="10B981"/>
            </a:solidFill>
            <a:prstDash val="solid"/>
          </a:ln>
        </p:spPr>
      </p:sp>
      <p:sp>
        <p:nvSpPr>
          <p:cNvPr id="3" name="Text 1"/>
          <p:cNvSpPr/>
          <p:nvPr/>
        </p:nvSpPr>
        <p:spPr>
          <a:xfrm>
            <a:off x="731520" y="457200"/>
            <a:ext cx="2011680" cy="320040"/>
          </a:xfrm>
          <a:prstGeom prst="rect">
            <a:avLst/>
          </a:prstGeom>
          <a:noFill/>
          <a:ln/>
        </p:spPr>
        <p:txBody>
          <a:bodyPr wrap="square" rtlCol="0" anchor="ctr"/>
          <a:lstStyle/>
          <a:p>
            <a:pPr algn="ctr" indent="0" marL="0">
              <a:buNone/>
            </a:pPr>
            <a:r>
              <a:rPr lang="en-US" sz="1000" b="1" dirty="0">
                <a:solidFill>
                  <a:srgbClr val="10B981"/>
                </a:solidFill>
              </a:rPr>
              <a:t>ENGINEERING</a:t>
            </a:r>
            <a:endParaRPr lang="en-US" sz="1000" dirty="0"/>
          </a:p>
        </p:txBody>
      </p:sp>
      <p:sp>
        <p:nvSpPr>
          <p:cNvPr id="4" name="Text 2"/>
          <p:cNvSpPr/>
          <p:nvPr/>
        </p:nvSpPr>
        <p:spPr>
          <a:xfrm>
            <a:off x="731520" y="868680"/>
            <a:ext cx="10515600" cy="594360"/>
          </a:xfrm>
          <a:prstGeom prst="rect">
            <a:avLst/>
          </a:prstGeom>
          <a:noFill/>
          <a:ln/>
        </p:spPr>
        <p:txBody>
          <a:bodyPr wrap="square" rtlCol="0" anchor="ctr"/>
          <a:lstStyle/>
          <a:p>
            <a:pPr indent="0" marL="0">
              <a:buNone/>
            </a:pPr>
            <a:r>
              <a:rPr lang="en-US" sz="2600" b="1" dirty="0">
                <a:solidFill>
                  <a:srgbClr val="F8FAFC"/>
                </a:solidFill>
                <a:latin typeface="Arial" pitchFamily="34" charset="0"/>
                <a:ea typeface="Arial" pitchFamily="34" charset="-122"/>
                <a:cs typeface="Arial" pitchFamily="34" charset="-120"/>
              </a:rPr>
              <a:t>Robust, Scalable Technical Architecture</a:t>
            </a:r>
            <a:endParaRPr lang="en-US" sz="2600" dirty="0"/>
          </a:p>
        </p:txBody>
      </p:sp>
      <p:sp>
        <p:nvSpPr>
          <p:cNvPr id="5" name="Text 3"/>
          <p:cNvSpPr/>
          <p:nvPr/>
        </p:nvSpPr>
        <p:spPr>
          <a:xfrm>
            <a:off x="731520" y="1463040"/>
            <a:ext cx="10515600" cy="36576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Built with Next.js 14, Phaser 3, WebGL Custom Shaders, and Web Audio API</a:t>
            </a:r>
            <a:endParaRPr lang="en-US" sz="1300" dirty="0"/>
          </a:p>
        </p:txBody>
      </p:sp>
      <p:sp>
        <p:nvSpPr>
          <p:cNvPr id="6" name="Text 4"/>
          <p:cNvSpPr/>
          <p:nvPr/>
        </p:nvSpPr>
        <p:spPr>
          <a:xfrm>
            <a:off x="731520" y="6400800"/>
            <a:ext cx="8229600" cy="274320"/>
          </a:xfrm>
          <a:prstGeom prst="rect">
            <a:avLst/>
          </a:prstGeom>
          <a:noFill/>
          <a:ln/>
        </p:spPr>
        <p:txBody>
          <a:bodyPr wrap="square" rtlCol="0" anchor="ctr"/>
          <a:lstStyle/>
          <a:p>
            <a:pPr indent="0" marL="0">
              <a:buNone/>
            </a:pPr>
            <a:r>
              <a:rPr lang="en-US" sz="900" dirty="0">
                <a:solidFill>
                  <a:srgbClr val="64748B"/>
                </a:solidFill>
              </a:rPr>
              <a:t>FIELD TO FUTURE: BLOOM  |  Bayer Hackathon Track: Agriculture &amp; Sustainability</a:t>
            </a:r>
            <a:endParaRPr lang="en-US" sz="900" dirty="0"/>
          </a:p>
        </p:txBody>
      </p:sp>
      <p:sp>
        <p:nvSpPr>
          <p:cNvPr id="7" name="Text 5"/>
          <p:cNvSpPr/>
          <p:nvPr/>
        </p:nvSpPr>
        <p:spPr>
          <a:xfrm>
            <a:off x="10515600" y="6400800"/>
            <a:ext cx="914400" cy="274320"/>
          </a:xfrm>
          <a:prstGeom prst="rect">
            <a:avLst/>
          </a:prstGeom>
          <a:noFill/>
          <a:ln/>
        </p:spPr>
        <p:txBody>
          <a:bodyPr wrap="square" rtlCol="0" anchor="ctr"/>
          <a:lstStyle/>
          <a:p>
            <a:pPr algn="r" indent="0" marL="0">
              <a:buNone/>
            </a:pPr>
            <a:r>
              <a:rPr lang="en-US" sz="900" dirty="0">
                <a:solidFill>
                  <a:srgbClr val="64748B"/>
                </a:solidFill>
              </a:rPr>
              <a:t>7 / 12</a:t>
            </a:r>
            <a:endParaRPr lang="en-US" sz="900" dirty="0"/>
          </a:p>
        </p:txBody>
      </p:sp>
      <p:sp>
        <p:nvSpPr>
          <p:cNvPr id="8" name="Shape 6"/>
          <p:cNvSpPr/>
          <p:nvPr/>
        </p:nvSpPr>
        <p:spPr>
          <a:xfrm>
            <a:off x="731520" y="1965960"/>
            <a:ext cx="3429000" cy="4206240"/>
          </a:xfrm>
          <a:prstGeom prst="roundRect">
            <a:avLst>
              <a:gd name="adj" fmla="val 4000"/>
            </a:avLst>
          </a:prstGeom>
          <a:solidFill>
            <a:srgbClr val="1E293B"/>
          </a:solidFill>
          <a:ln w="12700">
            <a:solidFill>
              <a:srgbClr val="334155"/>
            </a:solidFill>
            <a:prstDash val="solid"/>
          </a:ln>
        </p:spPr>
      </p:sp>
      <p:sp>
        <p:nvSpPr>
          <p:cNvPr id="9" name="Text 7"/>
          <p:cNvSpPr/>
          <p:nvPr/>
        </p:nvSpPr>
        <p:spPr>
          <a:xfrm>
            <a:off x="1005840" y="2194560"/>
            <a:ext cx="2880360" cy="274320"/>
          </a:xfrm>
          <a:prstGeom prst="rect">
            <a:avLst/>
          </a:prstGeom>
          <a:noFill/>
          <a:ln/>
        </p:spPr>
        <p:txBody>
          <a:bodyPr wrap="square" rtlCol="0" anchor="ctr"/>
          <a:lstStyle/>
          <a:p>
            <a:pPr indent="0" marL="0">
              <a:buNone/>
            </a:pPr>
            <a:r>
              <a:rPr lang="en-US" sz="950" b="1" spc="100" kern="0" dirty="0">
                <a:solidFill>
                  <a:srgbClr val="10B981"/>
                </a:solidFill>
              </a:rPr>
              <a:t>CANVAS &amp; GAME ENGINE</a:t>
            </a:r>
            <a:endParaRPr lang="en-US" sz="950" dirty="0"/>
          </a:p>
        </p:txBody>
      </p:sp>
      <p:sp>
        <p:nvSpPr>
          <p:cNvPr id="10" name="Text 8"/>
          <p:cNvSpPr/>
          <p:nvPr/>
        </p:nvSpPr>
        <p:spPr>
          <a:xfrm>
            <a:off x="1005840" y="2514600"/>
            <a:ext cx="2880360" cy="457200"/>
          </a:xfrm>
          <a:prstGeom prst="rect">
            <a:avLst/>
          </a:prstGeom>
          <a:noFill/>
          <a:ln/>
        </p:spPr>
        <p:txBody>
          <a:bodyPr wrap="square" rtlCol="0" anchor="ctr"/>
          <a:lstStyle/>
          <a:p>
            <a:pPr indent="0" marL="0">
              <a:buNone/>
            </a:pPr>
            <a:r>
              <a:rPr lang="en-US" sz="1600" b="1" dirty="0">
                <a:solidFill>
                  <a:srgbClr val="F8FAFC"/>
                </a:solidFill>
              </a:rPr>
              <a:t>Phaser 3 &amp; WebGL</a:t>
            </a:r>
            <a:endParaRPr lang="en-US" sz="1600" dirty="0"/>
          </a:p>
        </p:txBody>
      </p:sp>
      <p:sp>
        <p:nvSpPr>
          <p:cNvPr id="11" name="Text 9"/>
          <p:cNvSpPr/>
          <p:nvPr/>
        </p:nvSpPr>
        <p:spPr>
          <a:xfrm>
            <a:off x="1005840" y="3154680"/>
            <a:ext cx="2880360" cy="548640"/>
          </a:xfrm>
          <a:prstGeom prst="rect">
            <a:avLst/>
          </a:prstGeom>
          <a:noFill/>
          <a:ln/>
        </p:spPr>
        <p:txBody>
          <a:bodyPr wrap="square" rtlCol="0" anchor="ctr"/>
          <a:lstStyle/>
          <a:p>
            <a:pPr indent="0" marL="0">
              <a:lnSpc>
                <a:spcPts val="1500"/>
              </a:lnSpc>
              <a:buNone/>
            </a:pPr>
            <a:r>
              <a:rPr lang="en-US" sz="1000" dirty="0">
                <a:solidFill>
                  <a:srgbClr val="94A3B8"/>
                </a:solidFill>
              </a:rPr>
              <a:t>• 3200x2400 expansive 2D game world</a:t>
            </a:r>
            <a:endParaRPr lang="en-US" sz="1000" dirty="0"/>
          </a:p>
        </p:txBody>
      </p:sp>
      <p:sp>
        <p:nvSpPr>
          <p:cNvPr id="12" name="Text 10"/>
          <p:cNvSpPr/>
          <p:nvPr/>
        </p:nvSpPr>
        <p:spPr>
          <a:xfrm>
            <a:off x="1005840" y="3749040"/>
            <a:ext cx="2880360" cy="548640"/>
          </a:xfrm>
          <a:prstGeom prst="rect">
            <a:avLst/>
          </a:prstGeom>
          <a:noFill/>
          <a:ln/>
        </p:spPr>
        <p:txBody>
          <a:bodyPr wrap="square" rtlCol="0" anchor="ctr"/>
          <a:lstStyle/>
          <a:p>
            <a:pPr indent="0" marL="0">
              <a:lnSpc>
                <a:spcPts val="1500"/>
              </a:lnSpc>
              <a:buNone/>
            </a:pPr>
            <a:r>
              <a:rPr lang="en-US" sz="1000" dirty="0">
                <a:solidFill>
                  <a:srgbClr val="94A3B8"/>
                </a:solidFill>
              </a:rPr>
              <a:t>• 60 FPS arcade physics &amp; collision detection</a:t>
            </a:r>
            <a:endParaRPr lang="en-US" sz="1000" dirty="0"/>
          </a:p>
        </p:txBody>
      </p:sp>
      <p:sp>
        <p:nvSpPr>
          <p:cNvPr id="13" name="Text 11"/>
          <p:cNvSpPr/>
          <p:nvPr/>
        </p:nvSpPr>
        <p:spPr>
          <a:xfrm>
            <a:off x="1005840" y="4343400"/>
            <a:ext cx="2880360" cy="548640"/>
          </a:xfrm>
          <a:prstGeom prst="rect">
            <a:avLst/>
          </a:prstGeom>
          <a:noFill/>
          <a:ln/>
        </p:spPr>
        <p:txBody>
          <a:bodyPr wrap="square" rtlCol="0" anchor="ctr"/>
          <a:lstStyle/>
          <a:p>
            <a:pPr indent="0" marL="0">
              <a:lnSpc>
                <a:spcPts val="1500"/>
              </a:lnSpc>
              <a:buNone/>
            </a:pPr>
            <a:r>
              <a:rPr lang="en-US" sz="1000" dirty="0">
                <a:solidFill>
                  <a:srgbClr val="94A3B8"/>
                </a:solidFill>
              </a:rPr>
              <a:t>• Real-time WebGL desaturation/ash filter pipeline</a:t>
            </a:r>
            <a:endParaRPr lang="en-US" sz="1000" dirty="0"/>
          </a:p>
        </p:txBody>
      </p:sp>
      <p:sp>
        <p:nvSpPr>
          <p:cNvPr id="14" name="Text 12"/>
          <p:cNvSpPr/>
          <p:nvPr/>
        </p:nvSpPr>
        <p:spPr>
          <a:xfrm>
            <a:off x="1005840" y="4937760"/>
            <a:ext cx="2880360" cy="548640"/>
          </a:xfrm>
          <a:prstGeom prst="rect">
            <a:avLst/>
          </a:prstGeom>
          <a:noFill/>
          <a:ln/>
        </p:spPr>
        <p:txBody>
          <a:bodyPr wrap="square" rtlCol="0" anchor="ctr"/>
          <a:lstStyle/>
          <a:p>
            <a:pPr indent="0" marL="0">
              <a:lnSpc>
                <a:spcPts val="1500"/>
              </a:lnSpc>
              <a:buNone/>
            </a:pPr>
            <a:r>
              <a:rPr lang="en-US" sz="1000" dirty="0">
                <a:solidFill>
                  <a:srgbClr val="94A3B8"/>
                </a:solidFill>
              </a:rPr>
              <a:t>• Dynamic particle systems (embers, pollen, snow)</a:t>
            </a:r>
            <a:endParaRPr lang="en-US" sz="1000" dirty="0"/>
          </a:p>
        </p:txBody>
      </p:sp>
      <p:sp>
        <p:nvSpPr>
          <p:cNvPr id="15" name="Text 13"/>
          <p:cNvSpPr/>
          <p:nvPr/>
        </p:nvSpPr>
        <p:spPr>
          <a:xfrm>
            <a:off x="1005840" y="5532120"/>
            <a:ext cx="2880360" cy="548640"/>
          </a:xfrm>
          <a:prstGeom prst="rect">
            <a:avLst/>
          </a:prstGeom>
          <a:noFill/>
          <a:ln/>
        </p:spPr>
        <p:txBody>
          <a:bodyPr wrap="square" rtlCol="0" anchor="ctr"/>
          <a:lstStyle/>
          <a:p>
            <a:pPr indent="0" marL="0">
              <a:lnSpc>
                <a:spcPts val="1500"/>
              </a:lnSpc>
              <a:buNone/>
            </a:pPr>
            <a:r>
              <a:rPr lang="en-US" sz="1000" dirty="0">
                <a:solidFill>
                  <a:srgbClr val="94A3B8"/>
                </a:solidFill>
              </a:rPr>
              <a:t>• Dynamic sprite layer swapping (dead → flourish)</a:t>
            </a:r>
            <a:endParaRPr lang="en-US" sz="1000" dirty="0"/>
          </a:p>
        </p:txBody>
      </p:sp>
      <p:sp>
        <p:nvSpPr>
          <p:cNvPr id="16" name="Shape 14"/>
          <p:cNvSpPr/>
          <p:nvPr/>
        </p:nvSpPr>
        <p:spPr>
          <a:xfrm>
            <a:off x="4343400" y="1965960"/>
            <a:ext cx="3429000" cy="4206240"/>
          </a:xfrm>
          <a:prstGeom prst="roundRect">
            <a:avLst>
              <a:gd name="adj" fmla="val 4000"/>
            </a:avLst>
          </a:prstGeom>
          <a:solidFill>
            <a:srgbClr val="1E293B"/>
          </a:solidFill>
          <a:ln w="12700">
            <a:solidFill>
              <a:srgbClr val="334155"/>
            </a:solidFill>
            <a:prstDash val="solid"/>
          </a:ln>
        </p:spPr>
      </p:sp>
      <p:sp>
        <p:nvSpPr>
          <p:cNvPr id="17" name="Text 15"/>
          <p:cNvSpPr/>
          <p:nvPr/>
        </p:nvSpPr>
        <p:spPr>
          <a:xfrm>
            <a:off x="4617720" y="2194560"/>
            <a:ext cx="2880360" cy="274320"/>
          </a:xfrm>
          <a:prstGeom prst="rect">
            <a:avLst/>
          </a:prstGeom>
          <a:noFill/>
          <a:ln/>
        </p:spPr>
        <p:txBody>
          <a:bodyPr wrap="square" rtlCol="0" anchor="ctr"/>
          <a:lstStyle/>
          <a:p>
            <a:pPr indent="0" marL="0">
              <a:buNone/>
            </a:pPr>
            <a:r>
              <a:rPr lang="en-US" sz="950" b="1" spc="100" kern="0" dirty="0">
                <a:solidFill>
                  <a:srgbClr val="F59E0B"/>
                </a:solidFill>
              </a:rPr>
              <a:t>FRONTEND &amp; UI FRAMEWORK</a:t>
            </a:r>
            <a:endParaRPr lang="en-US" sz="950" dirty="0"/>
          </a:p>
        </p:txBody>
      </p:sp>
      <p:sp>
        <p:nvSpPr>
          <p:cNvPr id="18" name="Text 16"/>
          <p:cNvSpPr/>
          <p:nvPr/>
        </p:nvSpPr>
        <p:spPr>
          <a:xfrm>
            <a:off x="4617720" y="2514600"/>
            <a:ext cx="2880360" cy="457200"/>
          </a:xfrm>
          <a:prstGeom prst="rect">
            <a:avLst/>
          </a:prstGeom>
          <a:noFill/>
          <a:ln/>
        </p:spPr>
        <p:txBody>
          <a:bodyPr wrap="square" rtlCol="0" anchor="ctr"/>
          <a:lstStyle/>
          <a:p>
            <a:pPr indent="0" marL="0">
              <a:buNone/>
            </a:pPr>
            <a:r>
              <a:rPr lang="en-US" sz="1600" b="1" dirty="0">
                <a:solidFill>
                  <a:srgbClr val="F8FAFC"/>
                </a:solidFill>
              </a:rPr>
              <a:t>Next.js 14 App Router</a:t>
            </a:r>
            <a:endParaRPr lang="en-US" sz="1600" dirty="0"/>
          </a:p>
        </p:txBody>
      </p:sp>
      <p:sp>
        <p:nvSpPr>
          <p:cNvPr id="19" name="Text 17"/>
          <p:cNvSpPr/>
          <p:nvPr/>
        </p:nvSpPr>
        <p:spPr>
          <a:xfrm>
            <a:off x="4617720" y="3154680"/>
            <a:ext cx="2880360" cy="548640"/>
          </a:xfrm>
          <a:prstGeom prst="rect">
            <a:avLst/>
          </a:prstGeom>
          <a:noFill/>
          <a:ln/>
        </p:spPr>
        <p:txBody>
          <a:bodyPr wrap="square" rtlCol="0" anchor="ctr"/>
          <a:lstStyle/>
          <a:p>
            <a:pPr indent="0" marL="0">
              <a:lnSpc>
                <a:spcPts val="1500"/>
              </a:lnSpc>
              <a:buNone/>
            </a:pPr>
            <a:r>
              <a:rPr lang="en-US" sz="1000" dirty="0">
                <a:solidFill>
                  <a:srgbClr val="94A3B8"/>
                </a:solidFill>
              </a:rPr>
              <a:t>• React 18 with Tailwind CSS styling</a:t>
            </a:r>
            <a:endParaRPr lang="en-US" sz="1000" dirty="0"/>
          </a:p>
        </p:txBody>
      </p:sp>
      <p:sp>
        <p:nvSpPr>
          <p:cNvPr id="20" name="Text 18"/>
          <p:cNvSpPr/>
          <p:nvPr/>
        </p:nvSpPr>
        <p:spPr>
          <a:xfrm>
            <a:off x="4617720" y="3749040"/>
            <a:ext cx="2880360" cy="548640"/>
          </a:xfrm>
          <a:prstGeom prst="rect">
            <a:avLst/>
          </a:prstGeom>
          <a:noFill/>
          <a:ln/>
        </p:spPr>
        <p:txBody>
          <a:bodyPr wrap="square" rtlCol="0" anchor="ctr"/>
          <a:lstStyle/>
          <a:p>
            <a:pPr indent="0" marL="0">
              <a:lnSpc>
                <a:spcPts val="1500"/>
              </a:lnSpc>
              <a:buNone/>
            </a:pPr>
            <a:r>
              <a:rPr lang="en-US" sz="1000" dirty="0">
                <a:solidFill>
                  <a:srgbClr val="94A3B8"/>
                </a:solidFill>
              </a:rPr>
              <a:t>• Pixel-art retro HUD overlays &amp; mini-map radar</a:t>
            </a:r>
            <a:endParaRPr lang="en-US" sz="1000" dirty="0"/>
          </a:p>
        </p:txBody>
      </p:sp>
      <p:sp>
        <p:nvSpPr>
          <p:cNvPr id="21" name="Text 19"/>
          <p:cNvSpPr/>
          <p:nvPr/>
        </p:nvSpPr>
        <p:spPr>
          <a:xfrm>
            <a:off x="4617720" y="4343400"/>
            <a:ext cx="2880360" cy="548640"/>
          </a:xfrm>
          <a:prstGeom prst="rect">
            <a:avLst/>
          </a:prstGeom>
          <a:noFill/>
          <a:ln/>
        </p:spPr>
        <p:txBody>
          <a:bodyPr wrap="square" rtlCol="0" anchor="ctr"/>
          <a:lstStyle/>
          <a:p>
            <a:pPr indent="0" marL="0">
              <a:lnSpc>
                <a:spcPts val="1500"/>
              </a:lnSpc>
              <a:buNone/>
            </a:pPr>
            <a:r>
              <a:rPr lang="en-US" sz="1000" dirty="0">
                <a:solidFill>
                  <a:srgbClr val="94A3B8"/>
                </a:solidFill>
              </a:rPr>
              <a:t>• 7 interactive modal dialogue minigames</a:t>
            </a:r>
            <a:endParaRPr lang="en-US" sz="1000" dirty="0"/>
          </a:p>
        </p:txBody>
      </p:sp>
      <p:sp>
        <p:nvSpPr>
          <p:cNvPr id="22" name="Text 20"/>
          <p:cNvSpPr/>
          <p:nvPr/>
        </p:nvSpPr>
        <p:spPr>
          <a:xfrm>
            <a:off x="4617720" y="4937760"/>
            <a:ext cx="2880360" cy="548640"/>
          </a:xfrm>
          <a:prstGeom prst="rect">
            <a:avLst/>
          </a:prstGeom>
          <a:noFill/>
          <a:ln/>
        </p:spPr>
        <p:txBody>
          <a:bodyPr wrap="square" rtlCol="0" anchor="ctr"/>
          <a:lstStyle/>
          <a:p>
            <a:pPr indent="0" marL="0">
              <a:lnSpc>
                <a:spcPts val="1500"/>
              </a:lnSpc>
              <a:buNone/>
            </a:pPr>
            <a:r>
              <a:rPr lang="en-US" sz="1000" dirty="0">
                <a:solidFill>
                  <a:srgbClr val="94A3B8"/>
                </a:solidFill>
              </a:rPr>
              <a:t>• Context API persistent GameState management</a:t>
            </a:r>
            <a:endParaRPr lang="en-US" sz="1000" dirty="0"/>
          </a:p>
        </p:txBody>
      </p:sp>
      <p:sp>
        <p:nvSpPr>
          <p:cNvPr id="23" name="Text 21"/>
          <p:cNvSpPr/>
          <p:nvPr/>
        </p:nvSpPr>
        <p:spPr>
          <a:xfrm>
            <a:off x="4617720" y="5532120"/>
            <a:ext cx="2880360" cy="548640"/>
          </a:xfrm>
          <a:prstGeom prst="rect">
            <a:avLst/>
          </a:prstGeom>
          <a:noFill/>
          <a:ln/>
        </p:spPr>
        <p:txBody>
          <a:bodyPr wrap="square" rtlCol="0" anchor="ctr"/>
          <a:lstStyle/>
          <a:p>
            <a:pPr indent="0" marL="0">
              <a:lnSpc>
                <a:spcPts val="1500"/>
              </a:lnSpc>
              <a:buNone/>
            </a:pPr>
            <a:r>
              <a:rPr lang="en-US" sz="1000" dirty="0">
                <a:solidFill>
                  <a:srgbClr val="94A3B8"/>
                </a:solidFill>
              </a:rPr>
              <a:t>• Fast-Travel dock with instant biome warping</a:t>
            </a:r>
            <a:endParaRPr lang="en-US" sz="1000" dirty="0"/>
          </a:p>
        </p:txBody>
      </p:sp>
      <p:sp>
        <p:nvSpPr>
          <p:cNvPr id="24" name="Shape 22"/>
          <p:cNvSpPr/>
          <p:nvPr/>
        </p:nvSpPr>
        <p:spPr>
          <a:xfrm>
            <a:off x="7955280" y="1965960"/>
            <a:ext cx="3429000" cy="4206240"/>
          </a:xfrm>
          <a:prstGeom prst="roundRect">
            <a:avLst>
              <a:gd name="adj" fmla="val 4000"/>
            </a:avLst>
          </a:prstGeom>
          <a:solidFill>
            <a:srgbClr val="1E293B"/>
          </a:solidFill>
          <a:ln w="12700">
            <a:solidFill>
              <a:srgbClr val="334155"/>
            </a:solidFill>
            <a:prstDash val="solid"/>
          </a:ln>
        </p:spPr>
      </p:sp>
      <p:sp>
        <p:nvSpPr>
          <p:cNvPr id="25" name="Text 23"/>
          <p:cNvSpPr/>
          <p:nvPr/>
        </p:nvSpPr>
        <p:spPr>
          <a:xfrm>
            <a:off x="8229600" y="2194560"/>
            <a:ext cx="2880360" cy="274320"/>
          </a:xfrm>
          <a:prstGeom prst="rect">
            <a:avLst/>
          </a:prstGeom>
          <a:noFill/>
          <a:ln/>
        </p:spPr>
        <p:txBody>
          <a:bodyPr wrap="square" rtlCol="0" anchor="ctr"/>
          <a:lstStyle/>
          <a:p>
            <a:pPr indent="0" marL="0">
              <a:buNone/>
            </a:pPr>
            <a:r>
              <a:rPr lang="en-US" sz="950" b="1" spc="100" kern="0" dirty="0">
                <a:solidFill>
                  <a:srgbClr val="06B6D4"/>
                </a:solidFill>
              </a:rPr>
              <a:t>AUDIO &amp; AI INTELLIGENCE</a:t>
            </a:r>
            <a:endParaRPr lang="en-US" sz="950" dirty="0"/>
          </a:p>
        </p:txBody>
      </p:sp>
      <p:sp>
        <p:nvSpPr>
          <p:cNvPr id="26" name="Text 24"/>
          <p:cNvSpPr/>
          <p:nvPr/>
        </p:nvSpPr>
        <p:spPr>
          <a:xfrm>
            <a:off x="8229600" y="2514600"/>
            <a:ext cx="2880360" cy="457200"/>
          </a:xfrm>
          <a:prstGeom prst="rect">
            <a:avLst/>
          </a:prstGeom>
          <a:noFill/>
          <a:ln/>
        </p:spPr>
        <p:txBody>
          <a:bodyPr wrap="square" rtlCol="0" anchor="ctr"/>
          <a:lstStyle/>
          <a:p>
            <a:pPr indent="0" marL="0">
              <a:buNone/>
            </a:pPr>
            <a:r>
              <a:rPr lang="en-US" sz="1600" b="1" dirty="0">
                <a:solidFill>
                  <a:srgbClr val="F8FAFC"/>
                </a:solidFill>
              </a:rPr>
              <a:t>Web Audio API &amp; Gemini</a:t>
            </a:r>
            <a:endParaRPr lang="en-US" sz="1600" dirty="0"/>
          </a:p>
        </p:txBody>
      </p:sp>
      <p:sp>
        <p:nvSpPr>
          <p:cNvPr id="27" name="Text 25"/>
          <p:cNvSpPr/>
          <p:nvPr/>
        </p:nvSpPr>
        <p:spPr>
          <a:xfrm>
            <a:off x="8229600" y="3154680"/>
            <a:ext cx="2880360" cy="548640"/>
          </a:xfrm>
          <a:prstGeom prst="rect">
            <a:avLst/>
          </a:prstGeom>
          <a:noFill/>
          <a:ln/>
        </p:spPr>
        <p:txBody>
          <a:bodyPr wrap="square" rtlCol="0" anchor="ctr"/>
          <a:lstStyle/>
          <a:p>
            <a:pPr indent="0" marL="0">
              <a:lnSpc>
                <a:spcPts val="1500"/>
              </a:lnSpc>
              <a:buNone/>
            </a:pPr>
            <a:r>
              <a:rPr lang="en-US" sz="1000" dirty="0">
                <a:solidFill>
                  <a:srgbClr val="94A3B8"/>
                </a:solidFill>
              </a:rPr>
              <a:t>• Generative real-time synthesized biome soundtracks</a:t>
            </a:r>
            <a:endParaRPr lang="en-US" sz="1000" dirty="0"/>
          </a:p>
        </p:txBody>
      </p:sp>
      <p:sp>
        <p:nvSpPr>
          <p:cNvPr id="28" name="Text 26"/>
          <p:cNvSpPr/>
          <p:nvPr/>
        </p:nvSpPr>
        <p:spPr>
          <a:xfrm>
            <a:off x="8229600" y="3749040"/>
            <a:ext cx="2880360" cy="548640"/>
          </a:xfrm>
          <a:prstGeom prst="rect">
            <a:avLst/>
          </a:prstGeom>
          <a:noFill/>
          <a:ln/>
        </p:spPr>
        <p:txBody>
          <a:bodyPr wrap="square" rtlCol="0" anchor="ctr"/>
          <a:lstStyle/>
          <a:p>
            <a:pPr indent="0" marL="0">
              <a:lnSpc>
                <a:spcPts val="1500"/>
              </a:lnSpc>
              <a:buNone/>
            </a:pPr>
            <a:r>
              <a:rPr lang="en-US" sz="1000" dirty="0">
                <a:solidFill>
                  <a:srgbClr val="94A3B8"/>
                </a:solidFill>
              </a:rPr>
              <a:t>• Dynamic procedural sound effects (zero audio assets)</a:t>
            </a:r>
            <a:endParaRPr lang="en-US" sz="1000" dirty="0"/>
          </a:p>
        </p:txBody>
      </p:sp>
      <p:sp>
        <p:nvSpPr>
          <p:cNvPr id="29" name="Text 27"/>
          <p:cNvSpPr/>
          <p:nvPr/>
        </p:nvSpPr>
        <p:spPr>
          <a:xfrm>
            <a:off x="8229600" y="4343400"/>
            <a:ext cx="2880360" cy="548640"/>
          </a:xfrm>
          <a:prstGeom prst="rect">
            <a:avLst/>
          </a:prstGeom>
          <a:noFill/>
          <a:ln/>
        </p:spPr>
        <p:txBody>
          <a:bodyPr wrap="square" rtlCol="0" anchor="ctr"/>
          <a:lstStyle/>
          <a:p>
            <a:pPr indent="0" marL="0">
              <a:lnSpc>
                <a:spcPts val="1500"/>
              </a:lnSpc>
              <a:buNone/>
            </a:pPr>
            <a:r>
              <a:rPr lang="en-US" sz="1000" dirty="0">
                <a:solidFill>
                  <a:srgbClr val="94A3B8"/>
                </a:solidFill>
              </a:rPr>
              <a:t>• Gemini 1.5 Flash Next.js Edge API routes</a:t>
            </a:r>
            <a:endParaRPr lang="en-US" sz="1000" dirty="0"/>
          </a:p>
        </p:txBody>
      </p:sp>
      <p:sp>
        <p:nvSpPr>
          <p:cNvPr id="30" name="Text 28"/>
          <p:cNvSpPr/>
          <p:nvPr/>
        </p:nvSpPr>
        <p:spPr>
          <a:xfrm>
            <a:off x="8229600" y="4937760"/>
            <a:ext cx="2880360" cy="548640"/>
          </a:xfrm>
          <a:prstGeom prst="rect">
            <a:avLst/>
          </a:prstGeom>
          <a:noFill/>
          <a:ln/>
        </p:spPr>
        <p:txBody>
          <a:bodyPr wrap="square" rtlCol="0" anchor="ctr"/>
          <a:lstStyle/>
          <a:p>
            <a:pPr indent="0" marL="0">
              <a:lnSpc>
                <a:spcPts val="1500"/>
              </a:lnSpc>
              <a:buNone/>
            </a:pPr>
            <a:r>
              <a:rPr lang="en-US" sz="1000" dirty="0">
                <a:solidFill>
                  <a:srgbClr val="94A3B8"/>
                </a:solidFill>
              </a:rPr>
              <a:t>• Zero-dependency offline persona fallback engine</a:t>
            </a:r>
            <a:endParaRPr lang="en-US" sz="1000" dirty="0"/>
          </a:p>
        </p:txBody>
      </p:sp>
      <p:sp>
        <p:nvSpPr>
          <p:cNvPr id="31" name="Text 29"/>
          <p:cNvSpPr/>
          <p:nvPr/>
        </p:nvSpPr>
        <p:spPr>
          <a:xfrm>
            <a:off x="8229600" y="5532120"/>
            <a:ext cx="2880360" cy="548640"/>
          </a:xfrm>
          <a:prstGeom prst="rect">
            <a:avLst/>
          </a:prstGeom>
          <a:noFill/>
          <a:ln/>
        </p:spPr>
        <p:txBody>
          <a:bodyPr wrap="square" rtlCol="0" anchor="ctr"/>
          <a:lstStyle/>
          <a:p>
            <a:pPr indent="0" marL="0">
              <a:lnSpc>
                <a:spcPts val="1500"/>
              </a:lnSpc>
              <a:buNone/>
            </a:pPr>
            <a:r>
              <a:rPr lang="en-US" sz="1000" dirty="0">
                <a:solidFill>
                  <a:srgbClr val="94A3B8"/>
                </a:solidFill>
              </a:rPr>
              <a:t>• LocalStorage treasury &amp; badge persistence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31520" y="457200"/>
            <a:ext cx="2011680" cy="320040"/>
          </a:xfrm>
          <a:prstGeom prst="roundRect">
            <a:avLst>
              <a:gd name="adj" fmla="val 42857"/>
            </a:avLst>
          </a:prstGeom>
          <a:solidFill>
            <a:srgbClr val="065F46"/>
          </a:solidFill>
          <a:ln w="12700">
            <a:solidFill>
              <a:srgbClr val="10B981"/>
            </a:solidFill>
            <a:prstDash val="solid"/>
          </a:ln>
        </p:spPr>
      </p:sp>
      <p:sp>
        <p:nvSpPr>
          <p:cNvPr id="3" name="Text 1"/>
          <p:cNvSpPr/>
          <p:nvPr/>
        </p:nvSpPr>
        <p:spPr>
          <a:xfrm>
            <a:off x="731520" y="457200"/>
            <a:ext cx="2011680" cy="320040"/>
          </a:xfrm>
          <a:prstGeom prst="rect">
            <a:avLst/>
          </a:prstGeom>
          <a:noFill/>
          <a:ln/>
        </p:spPr>
        <p:txBody>
          <a:bodyPr wrap="square" rtlCol="0" anchor="ctr"/>
          <a:lstStyle/>
          <a:p>
            <a:pPr algn="ctr" indent="0" marL="0">
              <a:buNone/>
            </a:pPr>
            <a:r>
              <a:rPr lang="en-US" sz="1000" b="1" dirty="0">
                <a:solidFill>
                  <a:srgbClr val="10B981"/>
                </a:solidFill>
              </a:rPr>
              <a:t>SUSTAINABLE ECONOMICS</a:t>
            </a:r>
            <a:endParaRPr lang="en-US" sz="1000" dirty="0"/>
          </a:p>
        </p:txBody>
      </p:sp>
      <p:sp>
        <p:nvSpPr>
          <p:cNvPr id="4" name="Text 2"/>
          <p:cNvSpPr/>
          <p:nvPr/>
        </p:nvSpPr>
        <p:spPr>
          <a:xfrm>
            <a:off x="731520" y="868680"/>
            <a:ext cx="10515600" cy="594360"/>
          </a:xfrm>
          <a:prstGeom prst="rect">
            <a:avLst/>
          </a:prstGeom>
          <a:noFill/>
          <a:ln/>
        </p:spPr>
        <p:txBody>
          <a:bodyPr wrap="square" rtlCol="0" anchor="ctr"/>
          <a:lstStyle/>
          <a:p>
            <a:pPr indent="0" marL="0">
              <a:buNone/>
            </a:pPr>
            <a:r>
              <a:rPr lang="en-US" sz="2600" b="1" dirty="0">
                <a:solidFill>
                  <a:srgbClr val="F8FAFC"/>
                </a:solidFill>
                <a:latin typeface="Arial" pitchFamily="34" charset="0"/>
                <a:ea typeface="Arial" pitchFamily="34" charset="-122"/>
                <a:cs typeface="Arial" pitchFamily="34" charset="-120"/>
              </a:rPr>
              <a:t>The Impact Treasury: Monetizing Attention for Good</a:t>
            </a:r>
            <a:endParaRPr lang="en-US" sz="2600" dirty="0"/>
          </a:p>
        </p:txBody>
      </p:sp>
      <p:sp>
        <p:nvSpPr>
          <p:cNvPr id="5" name="Text 3"/>
          <p:cNvSpPr/>
          <p:nvPr/>
        </p:nvSpPr>
        <p:spPr>
          <a:xfrm>
            <a:off x="731520" y="1463040"/>
            <a:ext cx="10515600" cy="36576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A transparent corporate matching model transforming screen time into verified eco-grants</a:t>
            </a:r>
            <a:endParaRPr lang="en-US" sz="1300" dirty="0"/>
          </a:p>
        </p:txBody>
      </p:sp>
      <p:sp>
        <p:nvSpPr>
          <p:cNvPr id="6" name="Text 4"/>
          <p:cNvSpPr/>
          <p:nvPr/>
        </p:nvSpPr>
        <p:spPr>
          <a:xfrm>
            <a:off x="731520" y="6400800"/>
            <a:ext cx="8229600" cy="274320"/>
          </a:xfrm>
          <a:prstGeom prst="rect">
            <a:avLst/>
          </a:prstGeom>
          <a:noFill/>
          <a:ln/>
        </p:spPr>
        <p:txBody>
          <a:bodyPr wrap="square" rtlCol="0" anchor="ctr"/>
          <a:lstStyle/>
          <a:p>
            <a:pPr indent="0" marL="0">
              <a:buNone/>
            </a:pPr>
            <a:r>
              <a:rPr lang="en-US" sz="900" dirty="0">
                <a:solidFill>
                  <a:srgbClr val="64748B"/>
                </a:solidFill>
              </a:rPr>
              <a:t>FIELD TO FUTURE: BLOOM  |  Bayer Hackathon Track: Agriculture &amp; Sustainability</a:t>
            </a:r>
            <a:endParaRPr lang="en-US" sz="900" dirty="0"/>
          </a:p>
        </p:txBody>
      </p:sp>
      <p:sp>
        <p:nvSpPr>
          <p:cNvPr id="7" name="Text 5"/>
          <p:cNvSpPr/>
          <p:nvPr/>
        </p:nvSpPr>
        <p:spPr>
          <a:xfrm>
            <a:off x="10515600" y="6400800"/>
            <a:ext cx="914400" cy="274320"/>
          </a:xfrm>
          <a:prstGeom prst="rect">
            <a:avLst/>
          </a:prstGeom>
          <a:noFill/>
          <a:ln/>
        </p:spPr>
        <p:txBody>
          <a:bodyPr wrap="square" rtlCol="0" anchor="ctr"/>
          <a:lstStyle/>
          <a:p>
            <a:pPr algn="r" indent="0" marL="0">
              <a:buNone/>
            </a:pPr>
            <a:r>
              <a:rPr lang="en-US" sz="900" dirty="0">
                <a:solidFill>
                  <a:srgbClr val="64748B"/>
                </a:solidFill>
              </a:rPr>
              <a:t>8 / 12</a:t>
            </a:r>
            <a:endParaRPr lang="en-US" sz="900" dirty="0"/>
          </a:p>
        </p:txBody>
      </p:sp>
      <p:sp>
        <p:nvSpPr>
          <p:cNvPr id="8" name="Shape 6"/>
          <p:cNvSpPr/>
          <p:nvPr/>
        </p:nvSpPr>
        <p:spPr>
          <a:xfrm>
            <a:off x="731520" y="1965960"/>
            <a:ext cx="3429000" cy="3108960"/>
          </a:xfrm>
          <a:prstGeom prst="roundRect">
            <a:avLst>
              <a:gd name="adj" fmla="val 4412"/>
            </a:avLst>
          </a:prstGeom>
          <a:solidFill>
            <a:srgbClr val="1E293B"/>
          </a:solidFill>
          <a:ln w="12700">
            <a:solidFill>
              <a:srgbClr val="334155"/>
            </a:solidFill>
            <a:prstDash val="solid"/>
          </a:ln>
        </p:spPr>
      </p:sp>
      <p:sp>
        <p:nvSpPr>
          <p:cNvPr id="9" name="Text 7"/>
          <p:cNvSpPr/>
          <p:nvPr/>
        </p:nvSpPr>
        <p:spPr>
          <a:xfrm>
            <a:off x="1005840" y="2148840"/>
            <a:ext cx="2880360" cy="274320"/>
          </a:xfrm>
          <a:prstGeom prst="rect">
            <a:avLst/>
          </a:prstGeom>
          <a:noFill/>
          <a:ln/>
        </p:spPr>
        <p:txBody>
          <a:bodyPr wrap="square" rtlCol="0" anchor="ctr"/>
          <a:lstStyle/>
          <a:p>
            <a:pPr indent="0" marL="0">
              <a:buNone/>
            </a:pPr>
            <a:r>
              <a:rPr lang="en-US" sz="950" b="1" spc="150" kern="0" dirty="0">
                <a:solidFill>
                  <a:srgbClr val="F59E0B"/>
                </a:solidFill>
              </a:rPr>
              <a:t>🪙  STEP 01</a:t>
            </a:r>
            <a:endParaRPr lang="en-US" sz="950" dirty="0"/>
          </a:p>
        </p:txBody>
      </p:sp>
      <p:sp>
        <p:nvSpPr>
          <p:cNvPr id="10" name="Text 8"/>
          <p:cNvSpPr/>
          <p:nvPr/>
        </p:nvSpPr>
        <p:spPr>
          <a:xfrm>
            <a:off x="1005840" y="2468880"/>
            <a:ext cx="2880360" cy="457200"/>
          </a:xfrm>
          <a:prstGeom prst="rect">
            <a:avLst/>
          </a:prstGeom>
          <a:noFill/>
          <a:ln/>
        </p:spPr>
        <p:txBody>
          <a:bodyPr wrap="square" rtlCol="0" anchor="ctr"/>
          <a:lstStyle/>
          <a:p>
            <a:pPr indent="0" marL="0">
              <a:buNone/>
            </a:pPr>
            <a:r>
              <a:rPr lang="en-US" sz="1500" b="1" dirty="0">
                <a:solidFill>
                  <a:srgbClr val="F8FAFC"/>
                </a:solidFill>
              </a:rPr>
              <a:t>Time &amp; Presence Economy</a:t>
            </a:r>
            <a:endParaRPr lang="en-US" sz="1500" dirty="0"/>
          </a:p>
        </p:txBody>
      </p:sp>
      <p:sp>
        <p:nvSpPr>
          <p:cNvPr id="11" name="Text 9"/>
          <p:cNvSpPr/>
          <p:nvPr/>
        </p:nvSpPr>
        <p:spPr>
          <a:xfrm>
            <a:off x="1005840" y="3017520"/>
            <a:ext cx="2880360" cy="548640"/>
          </a:xfrm>
          <a:prstGeom prst="rect">
            <a:avLst/>
          </a:prstGeom>
          <a:noFill/>
          <a:ln/>
        </p:spPr>
        <p:txBody>
          <a:bodyPr wrap="square" rtlCol="0" anchor="ctr"/>
          <a:lstStyle/>
          <a:p>
            <a:pPr indent="0" marL="0">
              <a:lnSpc>
                <a:spcPts val="1500"/>
              </a:lnSpc>
              <a:buNone/>
            </a:pPr>
            <a:r>
              <a:rPr lang="en-US" sz="950" dirty="0">
                <a:solidFill>
                  <a:srgbClr val="94A3B8"/>
                </a:solidFill>
              </a:rPr>
              <a:t>• Players earn biome-specific coins for exploration, crisis resolution, and dialogue.</a:t>
            </a:r>
            <a:endParaRPr lang="en-US" sz="950" dirty="0"/>
          </a:p>
        </p:txBody>
      </p:sp>
      <p:sp>
        <p:nvSpPr>
          <p:cNvPr id="12" name="Text 10"/>
          <p:cNvSpPr/>
          <p:nvPr/>
        </p:nvSpPr>
        <p:spPr>
          <a:xfrm>
            <a:off x="1005840" y="3611880"/>
            <a:ext cx="2880360" cy="548640"/>
          </a:xfrm>
          <a:prstGeom prst="rect">
            <a:avLst/>
          </a:prstGeom>
          <a:noFill/>
          <a:ln/>
        </p:spPr>
        <p:txBody>
          <a:bodyPr wrap="square" rtlCol="0" anchor="ctr"/>
          <a:lstStyle/>
          <a:p>
            <a:pPr indent="0" marL="0">
              <a:lnSpc>
                <a:spcPts val="1500"/>
              </a:lnSpc>
              <a:buNone/>
            </a:pPr>
            <a:r>
              <a:rPr lang="en-US" sz="950" dirty="0">
                <a:solidFill>
                  <a:srgbClr val="94A3B8"/>
                </a:solidFill>
              </a:rPr>
              <a:t>• 6 unique coin currencies track habitat-specific stewardship.</a:t>
            </a:r>
            <a:endParaRPr lang="en-US" sz="950" dirty="0"/>
          </a:p>
        </p:txBody>
      </p:sp>
      <p:sp>
        <p:nvSpPr>
          <p:cNvPr id="13" name="Text 11"/>
          <p:cNvSpPr/>
          <p:nvPr/>
        </p:nvSpPr>
        <p:spPr>
          <a:xfrm>
            <a:off x="1005840" y="4206240"/>
            <a:ext cx="2880360" cy="548640"/>
          </a:xfrm>
          <a:prstGeom prst="rect">
            <a:avLst/>
          </a:prstGeom>
          <a:noFill/>
          <a:ln/>
        </p:spPr>
        <p:txBody>
          <a:bodyPr wrap="square" rtlCol="0" anchor="ctr"/>
          <a:lstStyle/>
          <a:p>
            <a:pPr indent="0" marL="0">
              <a:lnSpc>
                <a:spcPts val="1500"/>
              </a:lnSpc>
              <a:buNone/>
            </a:pPr>
            <a:r>
              <a:rPr lang="en-US" sz="950" dirty="0">
                <a:solidFill>
                  <a:srgbClr val="94A3B8"/>
                </a:solidFill>
              </a:rPr>
              <a:t>• Encourages continuous educational engagement over mindless clicks.</a:t>
            </a:r>
            <a:endParaRPr lang="en-US" sz="950" dirty="0"/>
          </a:p>
        </p:txBody>
      </p:sp>
      <p:sp>
        <p:nvSpPr>
          <p:cNvPr id="14" name="Shape 12"/>
          <p:cNvSpPr/>
          <p:nvPr/>
        </p:nvSpPr>
        <p:spPr>
          <a:xfrm>
            <a:off x="4343400" y="1965960"/>
            <a:ext cx="3429000" cy="3108960"/>
          </a:xfrm>
          <a:prstGeom prst="roundRect">
            <a:avLst>
              <a:gd name="adj" fmla="val 4412"/>
            </a:avLst>
          </a:prstGeom>
          <a:solidFill>
            <a:srgbClr val="1E293B"/>
          </a:solidFill>
          <a:ln w="12700">
            <a:solidFill>
              <a:srgbClr val="334155"/>
            </a:solidFill>
            <a:prstDash val="solid"/>
          </a:ln>
        </p:spPr>
      </p:sp>
      <p:sp>
        <p:nvSpPr>
          <p:cNvPr id="15" name="Text 13"/>
          <p:cNvSpPr/>
          <p:nvPr/>
        </p:nvSpPr>
        <p:spPr>
          <a:xfrm>
            <a:off x="4617720" y="2148840"/>
            <a:ext cx="2880360" cy="274320"/>
          </a:xfrm>
          <a:prstGeom prst="rect">
            <a:avLst/>
          </a:prstGeom>
          <a:noFill/>
          <a:ln/>
        </p:spPr>
        <p:txBody>
          <a:bodyPr wrap="square" rtlCol="0" anchor="ctr"/>
          <a:lstStyle/>
          <a:p>
            <a:pPr indent="0" marL="0">
              <a:buNone/>
            </a:pPr>
            <a:r>
              <a:rPr lang="en-US" sz="950" b="1" spc="150" kern="0" dirty="0">
                <a:solidFill>
                  <a:srgbClr val="F59E0B"/>
                </a:solidFill>
              </a:rPr>
              <a:t>🤝  STEP 02</a:t>
            </a:r>
            <a:endParaRPr lang="en-US" sz="950" dirty="0"/>
          </a:p>
        </p:txBody>
      </p:sp>
      <p:sp>
        <p:nvSpPr>
          <p:cNvPr id="16" name="Text 14"/>
          <p:cNvSpPr/>
          <p:nvPr/>
        </p:nvSpPr>
        <p:spPr>
          <a:xfrm>
            <a:off x="4617720" y="2468880"/>
            <a:ext cx="2880360" cy="457200"/>
          </a:xfrm>
          <a:prstGeom prst="rect">
            <a:avLst/>
          </a:prstGeom>
          <a:noFill/>
          <a:ln/>
        </p:spPr>
        <p:txBody>
          <a:bodyPr wrap="square" rtlCol="0" anchor="ctr"/>
          <a:lstStyle/>
          <a:p>
            <a:pPr indent="0" marL="0">
              <a:buNone/>
            </a:pPr>
            <a:r>
              <a:rPr lang="en-US" sz="1500" b="1" dirty="0">
                <a:solidFill>
                  <a:srgbClr val="F8FAFC"/>
                </a:solidFill>
              </a:rPr>
              <a:t>Sponsored Grant Matching</a:t>
            </a:r>
            <a:endParaRPr lang="en-US" sz="1500" dirty="0"/>
          </a:p>
        </p:txBody>
      </p:sp>
      <p:sp>
        <p:nvSpPr>
          <p:cNvPr id="17" name="Text 15"/>
          <p:cNvSpPr/>
          <p:nvPr/>
        </p:nvSpPr>
        <p:spPr>
          <a:xfrm>
            <a:off x="4617720" y="3017520"/>
            <a:ext cx="2880360" cy="548640"/>
          </a:xfrm>
          <a:prstGeom prst="rect">
            <a:avLst/>
          </a:prstGeom>
          <a:noFill/>
          <a:ln/>
        </p:spPr>
        <p:txBody>
          <a:bodyPr wrap="square" rtlCol="0" anchor="ctr"/>
          <a:lstStyle/>
          <a:p>
            <a:pPr indent="0" marL="0">
              <a:lnSpc>
                <a:spcPts val="1500"/>
              </a:lnSpc>
              <a:buNone/>
            </a:pPr>
            <a:r>
              <a:rPr lang="en-US" sz="950" dirty="0">
                <a:solidFill>
                  <a:srgbClr val="94A3B8"/>
                </a:solidFill>
              </a:rPr>
              <a:t>• 500 Biome Coins = $1.00 USD matched donation.</a:t>
            </a:r>
            <a:endParaRPr lang="en-US" sz="950" dirty="0"/>
          </a:p>
        </p:txBody>
      </p:sp>
      <p:sp>
        <p:nvSpPr>
          <p:cNvPr id="18" name="Text 16"/>
          <p:cNvSpPr/>
          <p:nvPr/>
        </p:nvSpPr>
        <p:spPr>
          <a:xfrm>
            <a:off x="4617720" y="3611880"/>
            <a:ext cx="2880360" cy="548640"/>
          </a:xfrm>
          <a:prstGeom prst="rect">
            <a:avLst/>
          </a:prstGeom>
          <a:noFill/>
          <a:ln/>
        </p:spPr>
        <p:txBody>
          <a:bodyPr wrap="square" rtlCol="0" anchor="ctr"/>
          <a:lstStyle/>
          <a:p>
            <a:pPr indent="0" marL="0">
              <a:lnSpc>
                <a:spcPts val="1500"/>
              </a:lnSpc>
              <a:buNone/>
            </a:pPr>
            <a:r>
              <a:rPr lang="en-US" sz="950" dirty="0">
                <a:solidFill>
                  <a:srgbClr val="94A3B8"/>
                </a:solidFill>
              </a:rPr>
              <a:t>• Bayer Sustainability Grant Pool matches precision ag &amp; soil health milestones.</a:t>
            </a:r>
            <a:endParaRPr lang="en-US" sz="950" dirty="0"/>
          </a:p>
        </p:txBody>
      </p:sp>
      <p:sp>
        <p:nvSpPr>
          <p:cNvPr id="19" name="Text 17"/>
          <p:cNvSpPr/>
          <p:nvPr/>
        </p:nvSpPr>
        <p:spPr>
          <a:xfrm>
            <a:off x="4617720" y="4206240"/>
            <a:ext cx="2880360" cy="548640"/>
          </a:xfrm>
          <a:prstGeom prst="rect">
            <a:avLst/>
          </a:prstGeom>
          <a:noFill/>
          <a:ln/>
        </p:spPr>
        <p:txBody>
          <a:bodyPr wrap="square" rtlCol="0" anchor="ctr"/>
          <a:lstStyle/>
          <a:p>
            <a:pPr indent="0" marL="0">
              <a:lnSpc>
                <a:spcPts val="1500"/>
              </a:lnSpc>
              <a:buNone/>
            </a:pPr>
            <a:r>
              <a:rPr lang="en-US" sz="950" dirty="0">
                <a:solidFill>
                  <a:srgbClr val="94A3B8"/>
                </a:solidFill>
              </a:rPr>
              <a:t>• Patagonia 1% For The Planet &amp; The Ocean Cleanup match marine and forest milestones.</a:t>
            </a:r>
            <a:endParaRPr lang="en-US" sz="950" dirty="0"/>
          </a:p>
        </p:txBody>
      </p:sp>
      <p:sp>
        <p:nvSpPr>
          <p:cNvPr id="20" name="Shape 18"/>
          <p:cNvSpPr/>
          <p:nvPr/>
        </p:nvSpPr>
        <p:spPr>
          <a:xfrm>
            <a:off x="7955280" y="1965960"/>
            <a:ext cx="3429000" cy="3108960"/>
          </a:xfrm>
          <a:prstGeom prst="roundRect">
            <a:avLst>
              <a:gd name="adj" fmla="val 4412"/>
            </a:avLst>
          </a:prstGeom>
          <a:solidFill>
            <a:srgbClr val="1E293B"/>
          </a:solidFill>
          <a:ln w="12700">
            <a:solidFill>
              <a:srgbClr val="334155"/>
            </a:solidFill>
            <a:prstDash val="solid"/>
          </a:ln>
        </p:spPr>
      </p:sp>
      <p:sp>
        <p:nvSpPr>
          <p:cNvPr id="21" name="Text 19"/>
          <p:cNvSpPr/>
          <p:nvPr/>
        </p:nvSpPr>
        <p:spPr>
          <a:xfrm>
            <a:off x="8229600" y="2148840"/>
            <a:ext cx="2880360" cy="274320"/>
          </a:xfrm>
          <a:prstGeom prst="rect">
            <a:avLst/>
          </a:prstGeom>
          <a:noFill/>
          <a:ln/>
        </p:spPr>
        <p:txBody>
          <a:bodyPr wrap="square" rtlCol="0" anchor="ctr"/>
          <a:lstStyle/>
          <a:p>
            <a:pPr indent="0" marL="0">
              <a:buNone/>
            </a:pPr>
            <a:r>
              <a:rPr lang="en-US" sz="950" b="1" spc="150" kern="0" dirty="0">
                <a:solidFill>
                  <a:srgbClr val="F59E0B"/>
                </a:solidFill>
              </a:rPr>
              <a:t>🌱  STEP 03</a:t>
            </a:r>
            <a:endParaRPr lang="en-US" sz="950" dirty="0"/>
          </a:p>
        </p:txBody>
      </p:sp>
      <p:sp>
        <p:nvSpPr>
          <p:cNvPr id="22" name="Text 20"/>
          <p:cNvSpPr/>
          <p:nvPr/>
        </p:nvSpPr>
        <p:spPr>
          <a:xfrm>
            <a:off x="8229600" y="2468880"/>
            <a:ext cx="2880360" cy="457200"/>
          </a:xfrm>
          <a:prstGeom prst="rect">
            <a:avLst/>
          </a:prstGeom>
          <a:noFill/>
          <a:ln/>
        </p:spPr>
        <p:txBody>
          <a:bodyPr wrap="square" rtlCol="0" anchor="ctr"/>
          <a:lstStyle/>
          <a:p>
            <a:pPr indent="0" marL="0">
              <a:buNone/>
            </a:pPr>
            <a:r>
              <a:rPr lang="en-US" sz="1500" b="1" dirty="0">
                <a:solidFill>
                  <a:srgbClr val="F8FAFC"/>
                </a:solidFill>
              </a:rPr>
              <a:t>Verified Non-Profit Payouts</a:t>
            </a:r>
            <a:endParaRPr lang="en-US" sz="1500" dirty="0"/>
          </a:p>
        </p:txBody>
      </p:sp>
      <p:sp>
        <p:nvSpPr>
          <p:cNvPr id="23" name="Text 21"/>
          <p:cNvSpPr/>
          <p:nvPr/>
        </p:nvSpPr>
        <p:spPr>
          <a:xfrm>
            <a:off x="8229600" y="3017520"/>
            <a:ext cx="2880360" cy="548640"/>
          </a:xfrm>
          <a:prstGeom prst="rect">
            <a:avLst/>
          </a:prstGeom>
          <a:noFill/>
          <a:ln/>
        </p:spPr>
        <p:txBody>
          <a:bodyPr wrap="square" rtlCol="0" anchor="ctr"/>
          <a:lstStyle/>
          <a:p>
            <a:pPr indent="0" marL="0">
              <a:lnSpc>
                <a:spcPts val="1500"/>
              </a:lnSpc>
              <a:buNone/>
            </a:pPr>
            <a:r>
              <a:rPr lang="en-US" sz="950" dirty="0">
                <a:solidFill>
                  <a:srgbClr val="94A3B8"/>
                </a:solidFill>
              </a:rPr>
              <a:t>• Grant capital distributed to certified environmental NGOs &amp; regenerative farming initiatives.</a:t>
            </a:r>
            <a:endParaRPr lang="en-US" sz="950" dirty="0"/>
          </a:p>
        </p:txBody>
      </p:sp>
      <p:sp>
        <p:nvSpPr>
          <p:cNvPr id="24" name="Text 22"/>
          <p:cNvSpPr/>
          <p:nvPr/>
        </p:nvSpPr>
        <p:spPr>
          <a:xfrm>
            <a:off x="8229600" y="3611880"/>
            <a:ext cx="2880360" cy="548640"/>
          </a:xfrm>
          <a:prstGeom prst="rect">
            <a:avLst/>
          </a:prstGeom>
          <a:noFill/>
          <a:ln/>
        </p:spPr>
        <p:txBody>
          <a:bodyPr wrap="square" rtlCol="0" anchor="ctr"/>
          <a:lstStyle/>
          <a:p>
            <a:pPr indent="0" marL="0">
              <a:lnSpc>
                <a:spcPts val="1500"/>
              </a:lnSpc>
              <a:buNone/>
            </a:pPr>
            <a:r>
              <a:rPr lang="en-US" sz="950" dirty="0">
                <a:solidFill>
                  <a:srgbClr val="94A3B8"/>
                </a:solidFill>
              </a:rPr>
              <a:t>• Transparent client-side ledger and audit trail.</a:t>
            </a:r>
            <a:endParaRPr lang="en-US" sz="950" dirty="0"/>
          </a:p>
        </p:txBody>
      </p:sp>
      <p:sp>
        <p:nvSpPr>
          <p:cNvPr id="25" name="Text 23"/>
          <p:cNvSpPr/>
          <p:nvPr/>
        </p:nvSpPr>
        <p:spPr>
          <a:xfrm>
            <a:off x="8229600" y="4206240"/>
            <a:ext cx="2880360" cy="548640"/>
          </a:xfrm>
          <a:prstGeom prst="rect">
            <a:avLst/>
          </a:prstGeom>
          <a:noFill/>
          <a:ln/>
        </p:spPr>
        <p:txBody>
          <a:bodyPr wrap="square" rtlCol="0" anchor="ctr"/>
          <a:lstStyle/>
          <a:p>
            <a:pPr indent="0" marL="0">
              <a:lnSpc>
                <a:spcPts val="1500"/>
              </a:lnSpc>
              <a:buNone/>
            </a:pPr>
            <a:r>
              <a:rPr lang="en-US" sz="950" dirty="0">
                <a:solidFill>
                  <a:srgbClr val="94A3B8"/>
                </a:solidFill>
              </a:rPr>
              <a:t>• Players witness the physical dollar value generated by their gameplay.</a:t>
            </a:r>
            <a:endParaRPr lang="en-US" sz="950" dirty="0"/>
          </a:p>
        </p:txBody>
      </p:sp>
      <p:sp>
        <p:nvSpPr>
          <p:cNvPr id="26" name="Shape 24"/>
          <p:cNvSpPr/>
          <p:nvPr/>
        </p:nvSpPr>
        <p:spPr>
          <a:xfrm>
            <a:off x="731520" y="5257800"/>
            <a:ext cx="10698480" cy="914400"/>
          </a:xfrm>
          <a:prstGeom prst="roundRect">
            <a:avLst>
              <a:gd name="adj" fmla="val 10000"/>
            </a:avLst>
          </a:prstGeom>
          <a:solidFill>
            <a:srgbClr val="1E2B37"/>
          </a:solidFill>
          <a:ln w="12700">
            <a:solidFill>
              <a:srgbClr val="06B6D4"/>
            </a:solidFill>
            <a:prstDash val="solid"/>
          </a:ln>
        </p:spPr>
      </p:sp>
      <p:sp>
        <p:nvSpPr>
          <p:cNvPr id="27" name="Text 25"/>
          <p:cNvSpPr/>
          <p:nvPr/>
        </p:nvSpPr>
        <p:spPr>
          <a:xfrm>
            <a:off x="1005840" y="5349240"/>
            <a:ext cx="3200400" cy="228600"/>
          </a:xfrm>
          <a:prstGeom prst="rect">
            <a:avLst/>
          </a:prstGeom>
          <a:noFill/>
          <a:ln/>
        </p:spPr>
        <p:txBody>
          <a:bodyPr wrap="square" rtlCol="0" anchor="ctr"/>
          <a:lstStyle/>
          <a:p>
            <a:pPr indent="0" marL="0">
              <a:buNone/>
            </a:pPr>
            <a:r>
              <a:rPr lang="en-US" sz="900" b="1" spc="150" kern="0" dirty="0">
                <a:solidFill>
                  <a:srgbClr val="06B6D4"/>
                </a:solidFill>
              </a:rPr>
              <a:t>ETHICAL AD SPONSORSHIP BANNER</a:t>
            </a:r>
            <a:endParaRPr lang="en-US" sz="900" dirty="0"/>
          </a:p>
        </p:txBody>
      </p:sp>
      <p:sp>
        <p:nvSpPr>
          <p:cNvPr id="28" name="Text 26"/>
          <p:cNvSpPr/>
          <p:nvPr/>
        </p:nvSpPr>
        <p:spPr>
          <a:xfrm>
            <a:off x="1005840" y="5623560"/>
            <a:ext cx="10149840" cy="457200"/>
          </a:xfrm>
          <a:prstGeom prst="rect">
            <a:avLst/>
          </a:prstGeom>
          <a:noFill/>
          <a:ln/>
        </p:spPr>
        <p:txBody>
          <a:bodyPr wrap="square" rtlCol="0" anchor="ctr"/>
          <a:lstStyle/>
          <a:p>
            <a:pPr indent="0" marL="0">
              <a:buNone/>
            </a:pPr>
            <a:r>
              <a:rPr lang="en-US" sz="1000" dirty="0">
                <a:solidFill>
                  <a:srgbClr val="F8FAFC"/>
                </a:solidFill>
              </a:rPr>
              <a:t>Our live footer banner highlights certified partners (Bayer Crop Science, Patagonia, Ocean Cleanup, Ecosia). 100% of simulated ad revenue injects capital directly into the player’s treasury, creating a self-sustaining funding flywheel.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31520" y="457200"/>
            <a:ext cx="2011680" cy="320040"/>
          </a:xfrm>
          <a:prstGeom prst="roundRect">
            <a:avLst>
              <a:gd name="adj" fmla="val 42857"/>
            </a:avLst>
          </a:prstGeom>
          <a:solidFill>
            <a:srgbClr val="065F46"/>
          </a:solidFill>
          <a:ln w="12700">
            <a:solidFill>
              <a:srgbClr val="10B981"/>
            </a:solidFill>
            <a:prstDash val="solid"/>
          </a:ln>
        </p:spPr>
      </p:sp>
      <p:sp>
        <p:nvSpPr>
          <p:cNvPr id="3" name="Text 1"/>
          <p:cNvSpPr/>
          <p:nvPr/>
        </p:nvSpPr>
        <p:spPr>
          <a:xfrm>
            <a:off x="731520" y="457200"/>
            <a:ext cx="2011680" cy="320040"/>
          </a:xfrm>
          <a:prstGeom prst="rect">
            <a:avLst/>
          </a:prstGeom>
          <a:noFill/>
          <a:ln/>
        </p:spPr>
        <p:txBody>
          <a:bodyPr wrap="square" rtlCol="0" anchor="ctr"/>
          <a:lstStyle/>
          <a:p>
            <a:pPr algn="ctr" indent="0" marL="0">
              <a:buNone/>
            </a:pPr>
            <a:r>
              <a:rPr lang="en-US" sz="1000" b="1" dirty="0">
                <a:solidFill>
                  <a:srgbClr val="10B981"/>
                </a:solidFill>
              </a:rPr>
              <a:t>ACTION BEYOND SCREEN</a:t>
            </a:r>
            <a:endParaRPr lang="en-US" sz="1000" dirty="0"/>
          </a:p>
        </p:txBody>
      </p:sp>
      <p:sp>
        <p:nvSpPr>
          <p:cNvPr id="4" name="Text 2"/>
          <p:cNvSpPr/>
          <p:nvPr/>
        </p:nvSpPr>
        <p:spPr>
          <a:xfrm>
            <a:off x="731520" y="868680"/>
            <a:ext cx="10515600" cy="594360"/>
          </a:xfrm>
          <a:prstGeom prst="rect">
            <a:avLst/>
          </a:prstGeom>
          <a:noFill/>
          <a:ln/>
        </p:spPr>
        <p:txBody>
          <a:bodyPr wrap="square" rtlCol="0" anchor="ctr"/>
          <a:lstStyle/>
          <a:p>
            <a:pPr indent="0" marL="0">
              <a:buNone/>
            </a:pPr>
            <a:r>
              <a:rPr lang="en-US" sz="2600" b="1" dirty="0">
                <a:solidFill>
                  <a:srgbClr val="F8FAFC"/>
                </a:solidFill>
                <a:latin typeface="Arial" pitchFamily="34" charset="0"/>
                <a:ea typeface="Arial" pitchFamily="34" charset="-122"/>
                <a:cs typeface="Arial" pitchFamily="34" charset="-120"/>
              </a:rPr>
              <a:t>Bridging Pixels to Real-World Civic Action</a:t>
            </a:r>
            <a:endParaRPr lang="en-US" sz="2600" dirty="0"/>
          </a:p>
        </p:txBody>
      </p:sp>
      <p:sp>
        <p:nvSpPr>
          <p:cNvPr id="5" name="Text 3"/>
          <p:cNvSpPr/>
          <p:nvPr/>
        </p:nvSpPr>
        <p:spPr>
          <a:xfrm>
            <a:off x="731520" y="1463040"/>
            <a:ext cx="10515600" cy="36576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Turning player empathy into tangible legislative, petition, and social advocacy</a:t>
            </a:r>
            <a:endParaRPr lang="en-US" sz="1300" dirty="0"/>
          </a:p>
        </p:txBody>
      </p:sp>
      <p:sp>
        <p:nvSpPr>
          <p:cNvPr id="6" name="Text 4"/>
          <p:cNvSpPr/>
          <p:nvPr/>
        </p:nvSpPr>
        <p:spPr>
          <a:xfrm>
            <a:off x="731520" y="6400800"/>
            <a:ext cx="8229600" cy="274320"/>
          </a:xfrm>
          <a:prstGeom prst="rect">
            <a:avLst/>
          </a:prstGeom>
          <a:noFill/>
          <a:ln/>
        </p:spPr>
        <p:txBody>
          <a:bodyPr wrap="square" rtlCol="0" anchor="ctr"/>
          <a:lstStyle/>
          <a:p>
            <a:pPr indent="0" marL="0">
              <a:buNone/>
            </a:pPr>
            <a:r>
              <a:rPr lang="en-US" sz="900" dirty="0">
                <a:solidFill>
                  <a:srgbClr val="64748B"/>
                </a:solidFill>
              </a:rPr>
              <a:t>FIELD TO FUTURE: BLOOM  |  Bayer Hackathon Track: Agriculture &amp; Sustainability</a:t>
            </a:r>
            <a:endParaRPr lang="en-US" sz="900" dirty="0"/>
          </a:p>
        </p:txBody>
      </p:sp>
      <p:sp>
        <p:nvSpPr>
          <p:cNvPr id="7" name="Text 5"/>
          <p:cNvSpPr/>
          <p:nvPr/>
        </p:nvSpPr>
        <p:spPr>
          <a:xfrm>
            <a:off x="10515600" y="6400800"/>
            <a:ext cx="914400" cy="274320"/>
          </a:xfrm>
          <a:prstGeom prst="rect">
            <a:avLst/>
          </a:prstGeom>
          <a:noFill/>
          <a:ln/>
        </p:spPr>
        <p:txBody>
          <a:bodyPr wrap="square" rtlCol="0" anchor="ctr"/>
          <a:lstStyle/>
          <a:p>
            <a:pPr algn="r" indent="0" marL="0">
              <a:buNone/>
            </a:pPr>
            <a:r>
              <a:rPr lang="en-US" sz="900" dirty="0">
                <a:solidFill>
                  <a:srgbClr val="64748B"/>
                </a:solidFill>
              </a:rPr>
              <a:t>9 / 12</a:t>
            </a:r>
            <a:endParaRPr lang="en-US" sz="900" dirty="0"/>
          </a:p>
        </p:txBody>
      </p:sp>
      <p:sp>
        <p:nvSpPr>
          <p:cNvPr id="8" name="Shape 6"/>
          <p:cNvSpPr/>
          <p:nvPr/>
        </p:nvSpPr>
        <p:spPr>
          <a:xfrm>
            <a:off x="731520" y="1965960"/>
            <a:ext cx="5257800" cy="1965960"/>
          </a:xfrm>
          <a:prstGeom prst="roundRect">
            <a:avLst>
              <a:gd name="adj" fmla="val 5581"/>
            </a:avLst>
          </a:prstGeom>
          <a:solidFill>
            <a:srgbClr val="1E293B"/>
          </a:solidFill>
          <a:ln w="12700">
            <a:solidFill>
              <a:srgbClr val="334155"/>
            </a:solidFill>
            <a:prstDash val="solid"/>
          </a:ln>
        </p:spPr>
      </p:sp>
      <p:sp>
        <p:nvSpPr>
          <p:cNvPr id="9" name="Text 7"/>
          <p:cNvSpPr/>
          <p:nvPr/>
        </p:nvSpPr>
        <p:spPr>
          <a:xfrm>
            <a:off x="1005840" y="2148840"/>
            <a:ext cx="4709160" cy="365760"/>
          </a:xfrm>
          <a:prstGeom prst="rect">
            <a:avLst/>
          </a:prstGeom>
          <a:noFill/>
          <a:ln/>
        </p:spPr>
        <p:txBody>
          <a:bodyPr wrap="square" rtlCol="0" anchor="ctr"/>
          <a:lstStyle/>
          <a:p>
            <a:pPr indent="0" marL="0">
              <a:buNone/>
            </a:pPr>
            <a:r>
              <a:rPr lang="en-US" sz="1400" b="1" dirty="0">
                <a:solidFill>
                  <a:srgbClr val="F8FAFC"/>
                </a:solidFill>
              </a:rPr>
              <a:t>✉️  Pre-Drafted Legislative Emails</a:t>
            </a:r>
            <a:endParaRPr lang="en-US" sz="1400" dirty="0"/>
          </a:p>
        </p:txBody>
      </p:sp>
      <p:sp>
        <p:nvSpPr>
          <p:cNvPr id="10" name="Text 8"/>
          <p:cNvSpPr/>
          <p:nvPr/>
        </p:nvSpPr>
        <p:spPr>
          <a:xfrm>
            <a:off x="1005840" y="2606040"/>
            <a:ext cx="4709160" cy="1143000"/>
          </a:xfrm>
          <a:prstGeom prst="rect">
            <a:avLst/>
          </a:prstGeom>
          <a:noFill/>
          <a:ln/>
        </p:spPr>
        <p:txBody>
          <a:bodyPr wrap="square" rtlCol="0" anchor="ctr"/>
          <a:lstStyle/>
          <a:p>
            <a:pPr indent="0" marL="0">
              <a:lnSpc>
                <a:spcPts val="1800"/>
              </a:lnSpc>
              <a:buNone/>
            </a:pPr>
            <a:r>
              <a:rPr lang="en-US" sz="1050" dirty="0">
                <a:solidFill>
                  <a:srgbClr val="94A3B8"/>
                </a:solidFill>
              </a:rPr>
              <a:t>Completing the Cloud Forest quest automatically drafts a formal email to congressional representatives advocating for funding for native forest buffers and farm wildfire defense.</a:t>
            </a:r>
            <a:endParaRPr lang="en-US" sz="1050" dirty="0"/>
          </a:p>
        </p:txBody>
      </p:sp>
      <p:sp>
        <p:nvSpPr>
          <p:cNvPr id="11" name="Shape 9"/>
          <p:cNvSpPr/>
          <p:nvPr/>
        </p:nvSpPr>
        <p:spPr>
          <a:xfrm>
            <a:off x="6172200" y="1965960"/>
            <a:ext cx="5257800" cy="1965960"/>
          </a:xfrm>
          <a:prstGeom prst="roundRect">
            <a:avLst>
              <a:gd name="adj" fmla="val 5581"/>
            </a:avLst>
          </a:prstGeom>
          <a:solidFill>
            <a:srgbClr val="1E293B"/>
          </a:solidFill>
          <a:ln w="12700">
            <a:solidFill>
              <a:srgbClr val="334155"/>
            </a:solidFill>
            <a:prstDash val="solid"/>
          </a:ln>
        </p:spPr>
      </p:sp>
      <p:sp>
        <p:nvSpPr>
          <p:cNvPr id="12" name="Text 10"/>
          <p:cNvSpPr/>
          <p:nvPr/>
        </p:nvSpPr>
        <p:spPr>
          <a:xfrm>
            <a:off x="6446520" y="2148840"/>
            <a:ext cx="4709160" cy="365760"/>
          </a:xfrm>
          <a:prstGeom prst="rect">
            <a:avLst/>
          </a:prstGeom>
          <a:noFill/>
          <a:ln/>
        </p:spPr>
        <p:txBody>
          <a:bodyPr wrap="square" rtlCol="0" anchor="ctr"/>
          <a:lstStyle/>
          <a:p>
            <a:pPr indent="0" marL="0">
              <a:buNone/>
            </a:pPr>
            <a:r>
              <a:rPr lang="en-US" sz="1400" b="1" dirty="0">
                <a:solidFill>
                  <a:srgbClr val="F8FAFC"/>
                </a:solidFill>
              </a:rPr>
              <a:t>✍️  Change.org Arctic Action</a:t>
            </a:r>
            <a:endParaRPr lang="en-US" sz="1400" dirty="0"/>
          </a:p>
        </p:txBody>
      </p:sp>
      <p:sp>
        <p:nvSpPr>
          <p:cNvPr id="13" name="Text 11"/>
          <p:cNvSpPr/>
          <p:nvPr/>
        </p:nvSpPr>
        <p:spPr>
          <a:xfrm>
            <a:off x="6446520" y="2606040"/>
            <a:ext cx="4709160" cy="1143000"/>
          </a:xfrm>
          <a:prstGeom prst="rect">
            <a:avLst/>
          </a:prstGeom>
          <a:noFill/>
          <a:ln/>
        </p:spPr>
        <p:txBody>
          <a:bodyPr wrap="square" rtlCol="0" anchor="ctr"/>
          <a:lstStyle/>
          <a:p>
            <a:pPr indent="0" marL="0">
              <a:lnSpc>
                <a:spcPts val="1800"/>
              </a:lnSpc>
              <a:buNone/>
            </a:pPr>
            <a:r>
              <a:rPr lang="en-US" sz="1050" dirty="0">
                <a:solidFill>
                  <a:srgbClr val="94A3B8"/>
                </a:solidFill>
              </a:rPr>
              <a:t>In the Tundra quest, players sign an active petition reducing black soot industrial emissions, complete with a live calculator demonstrating 1.42M tons of CO₂ mitigation.</a:t>
            </a:r>
            <a:endParaRPr lang="en-US" sz="1050" dirty="0"/>
          </a:p>
        </p:txBody>
      </p:sp>
      <p:sp>
        <p:nvSpPr>
          <p:cNvPr id="14" name="Shape 12"/>
          <p:cNvSpPr/>
          <p:nvPr/>
        </p:nvSpPr>
        <p:spPr>
          <a:xfrm>
            <a:off x="731520" y="4114800"/>
            <a:ext cx="5257800" cy="1965960"/>
          </a:xfrm>
          <a:prstGeom prst="roundRect">
            <a:avLst>
              <a:gd name="adj" fmla="val 5581"/>
            </a:avLst>
          </a:prstGeom>
          <a:solidFill>
            <a:srgbClr val="1E293B"/>
          </a:solidFill>
          <a:ln w="12700">
            <a:solidFill>
              <a:srgbClr val="334155"/>
            </a:solidFill>
            <a:prstDash val="solid"/>
          </a:ln>
        </p:spPr>
      </p:sp>
      <p:sp>
        <p:nvSpPr>
          <p:cNvPr id="15" name="Text 13"/>
          <p:cNvSpPr/>
          <p:nvPr/>
        </p:nvSpPr>
        <p:spPr>
          <a:xfrm>
            <a:off x="1005840" y="4297680"/>
            <a:ext cx="4709160" cy="365760"/>
          </a:xfrm>
          <a:prstGeom prst="rect">
            <a:avLst/>
          </a:prstGeom>
          <a:noFill/>
          <a:ln/>
        </p:spPr>
        <p:txBody>
          <a:bodyPr wrap="square" rtlCol="0" anchor="ctr"/>
          <a:lstStyle/>
          <a:p>
            <a:pPr indent="0" marL="0">
              <a:buNone/>
            </a:pPr>
            <a:r>
              <a:rPr lang="en-US" sz="1400" b="1" dirty="0">
                <a:solidFill>
                  <a:srgbClr val="F8FAFC"/>
                </a:solidFill>
              </a:rPr>
              <a:t>📱  One-Click Social Impact Cards</a:t>
            </a:r>
            <a:endParaRPr lang="en-US" sz="1400" dirty="0"/>
          </a:p>
        </p:txBody>
      </p:sp>
      <p:sp>
        <p:nvSpPr>
          <p:cNvPr id="16" name="Text 14"/>
          <p:cNvSpPr/>
          <p:nvPr/>
        </p:nvSpPr>
        <p:spPr>
          <a:xfrm>
            <a:off x="1005840" y="4754880"/>
            <a:ext cx="4709160" cy="1143000"/>
          </a:xfrm>
          <a:prstGeom prst="rect">
            <a:avLst/>
          </a:prstGeom>
          <a:noFill/>
          <a:ln/>
        </p:spPr>
        <p:txBody>
          <a:bodyPr wrap="square" rtlCol="0" anchor="ctr"/>
          <a:lstStyle/>
          <a:p>
            <a:pPr indent="0" marL="0">
              <a:lnSpc>
                <a:spcPts val="1800"/>
              </a:lnSpc>
              <a:buNone/>
            </a:pPr>
            <a:r>
              <a:rPr lang="en-US" sz="1050" dirty="0">
                <a:solidFill>
                  <a:srgbClr val="94A3B8"/>
                </a:solidFill>
              </a:rPr>
              <a:t>Generates viral Instagram Stories and Twitter/X graphic summaries showing which biome they saved, empowering viral peer-to-peer mobilization.</a:t>
            </a:r>
            <a:endParaRPr lang="en-US" sz="1050" dirty="0"/>
          </a:p>
        </p:txBody>
      </p:sp>
      <p:sp>
        <p:nvSpPr>
          <p:cNvPr id="17" name="Shape 15"/>
          <p:cNvSpPr/>
          <p:nvPr/>
        </p:nvSpPr>
        <p:spPr>
          <a:xfrm>
            <a:off x="6172200" y="4114800"/>
            <a:ext cx="5257800" cy="1965960"/>
          </a:xfrm>
          <a:prstGeom prst="roundRect">
            <a:avLst>
              <a:gd name="adj" fmla="val 5581"/>
            </a:avLst>
          </a:prstGeom>
          <a:solidFill>
            <a:srgbClr val="1E293B"/>
          </a:solidFill>
          <a:ln w="12700">
            <a:solidFill>
              <a:srgbClr val="334155"/>
            </a:solidFill>
            <a:prstDash val="solid"/>
          </a:ln>
        </p:spPr>
      </p:sp>
      <p:sp>
        <p:nvSpPr>
          <p:cNvPr id="18" name="Text 16"/>
          <p:cNvSpPr/>
          <p:nvPr/>
        </p:nvSpPr>
        <p:spPr>
          <a:xfrm>
            <a:off x="6446520" y="4297680"/>
            <a:ext cx="4709160" cy="365760"/>
          </a:xfrm>
          <a:prstGeom prst="rect">
            <a:avLst/>
          </a:prstGeom>
          <a:noFill/>
          <a:ln/>
        </p:spPr>
        <p:txBody>
          <a:bodyPr wrap="square" rtlCol="0" anchor="ctr"/>
          <a:lstStyle/>
          <a:p>
            <a:pPr indent="0" marL="0">
              <a:buNone/>
            </a:pPr>
            <a:r>
              <a:rPr lang="en-US" sz="1400" b="1" dirty="0">
                <a:solidFill>
                  <a:srgbClr val="F8FAFC"/>
                </a:solidFill>
              </a:rPr>
              <a:t>🌾  Regenerative Farmer Subsidies</a:t>
            </a:r>
            <a:endParaRPr lang="en-US" sz="1400" dirty="0"/>
          </a:p>
        </p:txBody>
      </p:sp>
      <p:sp>
        <p:nvSpPr>
          <p:cNvPr id="19" name="Text 17"/>
          <p:cNvSpPr/>
          <p:nvPr/>
        </p:nvSpPr>
        <p:spPr>
          <a:xfrm>
            <a:off x="6446520" y="4754880"/>
            <a:ext cx="4709160" cy="1143000"/>
          </a:xfrm>
          <a:prstGeom prst="rect">
            <a:avLst/>
          </a:prstGeom>
          <a:noFill/>
          <a:ln/>
        </p:spPr>
        <p:txBody>
          <a:bodyPr wrap="square" rtlCol="0" anchor="ctr"/>
          <a:lstStyle/>
          <a:p>
            <a:pPr indent="0" marL="0">
              <a:lnSpc>
                <a:spcPts val="1800"/>
              </a:lnSpc>
              <a:buNone/>
            </a:pPr>
            <a:r>
              <a:rPr lang="en-US" sz="1050" dirty="0">
                <a:solidFill>
                  <a:srgbClr val="94A3B8"/>
                </a:solidFill>
              </a:rPr>
              <a:t>The Bayer Prairie quest unlocks a petition urging state departments of agriculture to subsidize no-till seed drills and cover crop transitions for family farmers.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31520" y="457200"/>
            <a:ext cx="2011680" cy="320040"/>
          </a:xfrm>
          <a:prstGeom prst="roundRect">
            <a:avLst>
              <a:gd name="adj" fmla="val 42857"/>
            </a:avLst>
          </a:prstGeom>
          <a:solidFill>
            <a:srgbClr val="065F46"/>
          </a:solidFill>
          <a:ln w="12700">
            <a:solidFill>
              <a:srgbClr val="10B981"/>
            </a:solidFill>
            <a:prstDash val="solid"/>
          </a:ln>
        </p:spPr>
      </p:sp>
      <p:sp>
        <p:nvSpPr>
          <p:cNvPr id="3" name="Text 1"/>
          <p:cNvSpPr/>
          <p:nvPr/>
        </p:nvSpPr>
        <p:spPr>
          <a:xfrm>
            <a:off x="731520" y="457200"/>
            <a:ext cx="2011680" cy="320040"/>
          </a:xfrm>
          <a:prstGeom prst="rect">
            <a:avLst/>
          </a:prstGeom>
          <a:noFill/>
          <a:ln/>
        </p:spPr>
        <p:txBody>
          <a:bodyPr wrap="square" rtlCol="0" anchor="ctr"/>
          <a:lstStyle/>
          <a:p>
            <a:pPr algn="ctr" indent="0" marL="0">
              <a:buNone/>
            </a:pPr>
            <a:r>
              <a:rPr lang="en-US" sz="1000" b="1" dirty="0">
                <a:solidFill>
                  <a:srgbClr val="10B981"/>
                </a:solidFill>
              </a:rPr>
              <a:t>VISION &amp; GROWTH</a:t>
            </a:r>
            <a:endParaRPr lang="en-US" sz="1000" dirty="0"/>
          </a:p>
        </p:txBody>
      </p:sp>
      <p:sp>
        <p:nvSpPr>
          <p:cNvPr id="4" name="Text 2"/>
          <p:cNvSpPr/>
          <p:nvPr/>
        </p:nvSpPr>
        <p:spPr>
          <a:xfrm>
            <a:off x="731520" y="868680"/>
            <a:ext cx="10515600" cy="594360"/>
          </a:xfrm>
          <a:prstGeom prst="rect">
            <a:avLst/>
          </a:prstGeom>
          <a:noFill/>
          <a:ln/>
        </p:spPr>
        <p:txBody>
          <a:bodyPr wrap="square" rtlCol="0" anchor="ctr"/>
          <a:lstStyle/>
          <a:p>
            <a:pPr indent="0" marL="0">
              <a:buNone/>
            </a:pPr>
            <a:r>
              <a:rPr lang="en-US" sz="2600" b="1" dirty="0">
                <a:solidFill>
                  <a:srgbClr val="F8FAFC"/>
                </a:solidFill>
                <a:latin typeface="Arial" pitchFamily="34" charset="0"/>
                <a:ea typeface="Arial" pitchFamily="34" charset="-122"/>
                <a:cs typeface="Arial" pitchFamily="34" charset="-120"/>
              </a:rPr>
              <a:t>Market Potential &amp; Future Evolution</a:t>
            </a:r>
            <a:endParaRPr lang="en-US" sz="2600" dirty="0"/>
          </a:p>
        </p:txBody>
      </p:sp>
      <p:sp>
        <p:nvSpPr>
          <p:cNvPr id="5" name="Text 3"/>
          <p:cNvSpPr/>
          <p:nvPr/>
        </p:nvSpPr>
        <p:spPr>
          <a:xfrm>
            <a:off x="731520" y="1463040"/>
            <a:ext cx="10515600" cy="36576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Scaling from a hackathon prototype into a global conservation education movement</a:t>
            </a:r>
            <a:endParaRPr lang="en-US" sz="1300" dirty="0"/>
          </a:p>
        </p:txBody>
      </p:sp>
      <p:sp>
        <p:nvSpPr>
          <p:cNvPr id="6" name="Text 4"/>
          <p:cNvSpPr/>
          <p:nvPr/>
        </p:nvSpPr>
        <p:spPr>
          <a:xfrm>
            <a:off x="731520" y="6400800"/>
            <a:ext cx="8229600" cy="274320"/>
          </a:xfrm>
          <a:prstGeom prst="rect">
            <a:avLst/>
          </a:prstGeom>
          <a:noFill/>
          <a:ln/>
        </p:spPr>
        <p:txBody>
          <a:bodyPr wrap="square" rtlCol="0" anchor="ctr"/>
          <a:lstStyle/>
          <a:p>
            <a:pPr indent="0" marL="0">
              <a:buNone/>
            </a:pPr>
            <a:r>
              <a:rPr lang="en-US" sz="900" dirty="0">
                <a:solidFill>
                  <a:srgbClr val="64748B"/>
                </a:solidFill>
              </a:rPr>
              <a:t>FIELD TO FUTURE: BLOOM  |  Bayer Hackathon Track: Agriculture &amp; Sustainability</a:t>
            </a:r>
            <a:endParaRPr lang="en-US" sz="900" dirty="0"/>
          </a:p>
        </p:txBody>
      </p:sp>
      <p:sp>
        <p:nvSpPr>
          <p:cNvPr id="7" name="Text 5"/>
          <p:cNvSpPr/>
          <p:nvPr/>
        </p:nvSpPr>
        <p:spPr>
          <a:xfrm>
            <a:off x="10515600" y="6400800"/>
            <a:ext cx="914400" cy="274320"/>
          </a:xfrm>
          <a:prstGeom prst="rect">
            <a:avLst/>
          </a:prstGeom>
          <a:noFill/>
          <a:ln/>
        </p:spPr>
        <p:txBody>
          <a:bodyPr wrap="square" rtlCol="0" anchor="ctr"/>
          <a:lstStyle/>
          <a:p>
            <a:pPr algn="r" indent="0" marL="0">
              <a:buNone/>
            </a:pPr>
            <a:r>
              <a:rPr lang="en-US" sz="900" dirty="0">
                <a:solidFill>
                  <a:srgbClr val="64748B"/>
                </a:solidFill>
              </a:rPr>
              <a:t>10 / 12</a:t>
            </a:r>
            <a:endParaRPr lang="en-US" sz="900" dirty="0"/>
          </a:p>
        </p:txBody>
      </p:sp>
      <p:sp>
        <p:nvSpPr>
          <p:cNvPr id="8" name="Shape 6"/>
          <p:cNvSpPr/>
          <p:nvPr/>
        </p:nvSpPr>
        <p:spPr>
          <a:xfrm>
            <a:off x="731520" y="1965960"/>
            <a:ext cx="5257800" cy="4206240"/>
          </a:xfrm>
          <a:prstGeom prst="roundRect">
            <a:avLst>
              <a:gd name="adj" fmla="val 3261"/>
            </a:avLst>
          </a:prstGeom>
          <a:solidFill>
            <a:srgbClr val="1E293B"/>
          </a:solidFill>
          <a:ln w="12700">
            <a:solidFill>
              <a:srgbClr val="334155"/>
            </a:solidFill>
            <a:prstDash val="solid"/>
          </a:ln>
        </p:spPr>
      </p:sp>
      <p:sp>
        <p:nvSpPr>
          <p:cNvPr id="9" name="Text 7"/>
          <p:cNvSpPr/>
          <p:nvPr/>
        </p:nvSpPr>
        <p:spPr>
          <a:xfrm>
            <a:off x="1005840" y="2148840"/>
            <a:ext cx="4709160" cy="274320"/>
          </a:xfrm>
          <a:prstGeom prst="rect">
            <a:avLst/>
          </a:prstGeom>
          <a:noFill/>
          <a:ln/>
        </p:spPr>
        <p:txBody>
          <a:bodyPr wrap="square" rtlCol="0" anchor="ctr"/>
          <a:lstStyle/>
          <a:p>
            <a:pPr indent="0" marL="0">
              <a:buNone/>
            </a:pPr>
            <a:r>
              <a:rPr lang="en-US" sz="1000" b="1" spc="150" kern="0" dirty="0">
                <a:solidFill>
                  <a:srgbClr val="10B981"/>
                </a:solidFill>
              </a:rPr>
              <a:t>MARKET CONVERGENCE</a:t>
            </a:r>
            <a:endParaRPr lang="en-US" sz="1000" dirty="0"/>
          </a:p>
        </p:txBody>
      </p:sp>
      <p:sp>
        <p:nvSpPr>
          <p:cNvPr id="10" name="Text 8"/>
          <p:cNvSpPr/>
          <p:nvPr/>
        </p:nvSpPr>
        <p:spPr>
          <a:xfrm>
            <a:off x="1005840" y="2468880"/>
            <a:ext cx="4709160" cy="502920"/>
          </a:xfrm>
          <a:prstGeom prst="rect">
            <a:avLst/>
          </a:prstGeom>
          <a:noFill/>
          <a:ln/>
        </p:spPr>
        <p:txBody>
          <a:bodyPr wrap="square" rtlCol="0" anchor="ctr"/>
          <a:lstStyle/>
          <a:p>
            <a:pPr indent="0" marL="0">
              <a:buNone/>
            </a:pPr>
            <a:r>
              <a:rPr lang="en-US" sz="1500" b="1" dirty="0">
                <a:solidFill>
                  <a:srgbClr val="F8FAFC"/>
                </a:solidFill>
              </a:rPr>
              <a:t>The "Cozy Gaming" + Climate Tech Boom</a:t>
            </a:r>
            <a:endParaRPr lang="en-US" sz="1500" dirty="0"/>
          </a:p>
        </p:txBody>
      </p:sp>
      <p:sp>
        <p:nvSpPr>
          <p:cNvPr id="11" name="Text 9"/>
          <p:cNvSpPr/>
          <p:nvPr/>
        </p:nvSpPr>
        <p:spPr>
          <a:xfrm>
            <a:off x="1005840" y="3108960"/>
            <a:ext cx="4709160" cy="777240"/>
          </a:xfrm>
          <a:prstGeom prst="rect">
            <a:avLst/>
          </a:prstGeom>
          <a:noFill/>
          <a:ln/>
        </p:spPr>
        <p:txBody>
          <a:bodyPr wrap="square" rtlCol="0" anchor="ctr"/>
          <a:lstStyle/>
          <a:p>
            <a:pPr indent="0" marL="0">
              <a:lnSpc>
                <a:spcPts val="1700"/>
              </a:lnSpc>
              <a:buNone/>
            </a:pPr>
            <a:r>
              <a:rPr lang="en-US" sz="1050" dirty="0">
                <a:solidFill>
                  <a:srgbClr val="94A3B8"/>
                </a:solidFill>
              </a:rPr>
              <a:t>• 3.2 Billion Global Gamers: Rapidly expanding appetite for uplifting, nature-positive games (Stardew Valley, Animal Crossing).</a:t>
            </a:r>
            <a:endParaRPr lang="en-US" sz="1050" dirty="0"/>
          </a:p>
        </p:txBody>
      </p:sp>
      <p:sp>
        <p:nvSpPr>
          <p:cNvPr id="12" name="Text 10"/>
          <p:cNvSpPr/>
          <p:nvPr/>
        </p:nvSpPr>
        <p:spPr>
          <a:xfrm>
            <a:off x="1005840" y="3977640"/>
            <a:ext cx="4709160" cy="777240"/>
          </a:xfrm>
          <a:prstGeom prst="rect">
            <a:avLst/>
          </a:prstGeom>
          <a:noFill/>
          <a:ln/>
        </p:spPr>
        <p:txBody>
          <a:bodyPr wrap="square" rtlCol="0" anchor="ctr"/>
          <a:lstStyle/>
          <a:p>
            <a:pPr indent="0" marL="0">
              <a:lnSpc>
                <a:spcPts val="1700"/>
              </a:lnSpc>
              <a:buNone/>
            </a:pPr>
            <a:r>
              <a:rPr lang="en-US" sz="1050" dirty="0">
                <a:solidFill>
                  <a:srgbClr val="94A3B8"/>
                </a:solidFill>
              </a:rPr>
              <a:t>• ESG Corporate Alignment: Brands like Bayer seek authentic, measurable engagement channels that educate youth on smart agriculture rather than greenwashing.</a:t>
            </a:r>
            <a:endParaRPr lang="en-US" sz="1050" dirty="0"/>
          </a:p>
        </p:txBody>
      </p:sp>
      <p:sp>
        <p:nvSpPr>
          <p:cNvPr id="13" name="Text 11"/>
          <p:cNvSpPr/>
          <p:nvPr/>
        </p:nvSpPr>
        <p:spPr>
          <a:xfrm>
            <a:off x="1005840" y="4846320"/>
            <a:ext cx="4709160" cy="777240"/>
          </a:xfrm>
          <a:prstGeom prst="rect">
            <a:avLst/>
          </a:prstGeom>
          <a:noFill/>
          <a:ln/>
        </p:spPr>
        <p:txBody>
          <a:bodyPr wrap="square" rtlCol="0" anchor="ctr"/>
          <a:lstStyle/>
          <a:p>
            <a:pPr indent="0" marL="0">
              <a:lnSpc>
                <a:spcPts val="1700"/>
              </a:lnSpc>
              <a:buNone/>
            </a:pPr>
            <a:r>
              <a:rPr lang="en-US" sz="1050" dirty="0">
                <a:solidFill>
                  <a:srgbClr val="94A3B8"/>
                </a:solidFill>
              </a:rPr>
              <a:t>• K-12 &amp; University Education: High demand for gamified science curricula that make complex ecological dependencies visceral and fun.</a:t>
            </a:r>
            <a:endParaRPr lang="en-US" sz="1050" dirty="0"/>
          </a:p>
        </p:txBody>
      </p:sp>
      <p:sp>
        <p:nvSpPr>
          <p:cNvPr id="14" name="Shape 12"/>
          <p:cNvSpPr/>
          <p:nvPr/>
        </p:nvSpPr>
        <p:spPr>
          <a:xfrm>
            <a:off x="6172200" y="1965960"/>
            <a:ext cx="5257800" cy="4206240"/>
          </a:xfrm>
          <a:prstGeom prst="roundRect">
            <a:avLst>
              <a:gd name="adj" fmla="val 3261"/>
            </a:avLst>
          </a:prstGeom>
          <a:solidFill>
            <a:srgbClr val="1E293B"/>
          </a:solidFill>
          <a:ln w="12700">
            <a:solidFill>
              <a:srgbClr val="334155"/>
            </a:solidFill>
            <a:prstDash val="solid"/>
          </a:ln>
        </p:spPr>
      </p:sp>
      <p:sp>
        <p:nvSpPr>
          <p:cNvPr id="15" name="Text 13"/>
          <p:cNvSpPr/>
          <p:nvPr/>
        </p:nvSpPr>
        <p:spPr>
          <a:xfrm>
            <a:off x="6446520" y="2148840"/>
            <a:ext cx="4709160" cy="274320"/>
          </a:xfrm>
          <a:prstGeom prst="rect">
            <a:avLst/>
          </a:prstGeom>
          <a:noFill/>
          <a:ln/>
        </p:spPr>
        <p:txBody>
          <a:bodyPr wrap="square" rtlCol="0" anchor="ctr"/>
          <a:lstStyle/>
          <a:p>
            <a:pPr indent="0" marL="0">
              <a:buNone/>
            </a:pPr>
            <a:r>
              <a:rPr lang="en-US" sz="1000" b="1" spc="150" kern="0" dirty="0">
                <a:solidFill>
                  <a:srgbClr val="F59E0B"/>
                </a:solidFill>
              </a:rPr>
              <a:t>DEVELOPMENT ROADMAP</a:t>
            </a:r>
            <a:endParaRPr lang="en-US" sz="1000" dirty="0"/>
          </a:p>
        </p:txBody>
      </p:sp>
      <p:sp>
        <p:nvSpPr>
          <p:cNvPr id="16" name="Text 14"/>
          <p:cNvSpPr/>
          <p:nvPr/>
        </p:nvSpPr>
        <p:spPr>
          <a:xfrm>
            <a:off x="6446520" y="2468880"/>
            <a:ext cx="4709160" cy="502920"/>
          </a:xfrm>
          <a:prstGeom prst="rect">
            <a:avLst/>
          </a:prstGeom>
          <a:noFill/>
          <a:ln/>
        </p:spPr>
        <p:txBody>
          <a:bodyPr wrap="square" rtlCol="0" anchor="ctr"/>
          <a:lstStyle/>
          <a:p>
            <a:pPr indent="0" marL="0">
              <a:buNone/>
            </a:pPr>
            <a:r>
              <a:rPr lang="en-US" sz="1500" b="1" dirty="0">
                <a:solidFill>
                  <a:srgbClr val="F8FAFC"/>
                </a:solidFill>
              </a:rPr>
              <a:t>From Hackathon Prototype to Global Platform</a:t>
            </a:r>
            <a:endParaRPr lang="en-US" sz="1500" dirty="0"/>
          </a:p>
        </p:txBody>
      </p:sp>
      <p:sp>
        <p:nvSpPr>
          <p:cNvPr id="17" name="Shape 15"/>
          <p:cNvSpPr/>
          <p:nvPr/>
        </p:nvSpPr>
        <p:spPr>
          <a:xfrm>
            <a:off x="6446520" y="3063240"/>
            <a:ext cx="1005840" cy="274320"/>
          </a:xfrm>
          <a:prstGeom prst="roundRect">
            <a:avLst>
              <a:gd name="adj" fmla="val 26667"/>
            </a:avLst>
          </a:prstGeom>
          <a:solidFill>
            <a:srgbClr val="3A2810"/>
          </a:solidFill>
          <a:ln w="10160">
            <a:solidFill>
              <a:srgbClr val="F59E0B"/>
            </a:solidFill>
            <a:prstDash val="solid"/>
          </a:ln>
        </p:spPr>
      </p:sp>
      <p:sp>
        <p:nvSpPr>
          <p:cNvPr id="18" name="Text 16"/>
          <p:cNvSpPr/>
          <p:nvPr/>
        </p:nvSpPr>
        <p:spPr>
          <a:xfrm>
            <a:off x="6446520" y="3063240"/>
            <a:ext cx="1005840" cy="274320"/>
          </a:xfrm>
          <a:prstGeom prst="rect">
            <a:avLst/>
          </a:prstGeom>
          <a:noFill/>
          <a:ln/>
        </p:spPr>
        <p:txBody>
          <a:bodyPr wrap="square" rtlCol="0" anchor="ctr"/>
          <a:lstStyle/>
          <a:p>
            <a:pPr algn="ctr" indent="0" marL="0">
              <a:buNone/>
            </a:pPr>
            <a:r>
              <a:rPr lang="en-US" sz="850" b="1" dirty="0">
                <a:solidFill>
                  <a:srgbClr val="F59E0B"/>
                </a:solidFill>
              </a:rPr>
              <a:t>Q1 2027</a:t>
            </a:r>
            <a:endParaRPr lang="en-US" sz="850" dirty="0"/>
          </a:p>
        </p:txBody>
      </p:sp>
      <p:sp>
        <p:nvSpPr>
          <p:cNvPr id="19" name="Text 17"/>
          <p:cNvSpPr/>
          <p:nvPr/>
        </p:nvSpPr>
        <p:spPr>
          <a:xfrm>
            <a:off x="7589520" y="3063240"/>
            <a:ext cx="3566160" cy="274320"/>
          </a:xfrm>
          <a:prstGeom prst="rect">
            <a:avLst/>
          </a:prstGeom>
          <a:noFill/>
          <a:ln/>
        </p:spPr>
        <p:txBody>
          <a:bodyPr wrap="square" rtlCol="0" anchor="ctr"/>
          <a:lstStyle/>
          <a:p>
            <a:pPr indent="0" marL="0">
              <a:buNone/>
            </a:pPr>
            <a:r>
              <a:rPr lang="en-US" sz="1100" b="1" dirty="0">
                <a:solidFill>
                  <a:srgbClr val="F8FAFC"/>
                </a:solidFill>
              </a:rPr>
              <a:t>Mobile PWA &amp; Classroom Mode</a:t>
            </a:r>
            <a:endParaRPr lang="en-US" sz="1100" dirty="0"/>
          </a:p>
        </p:txBody>
      </p:sp>
      <p:sp>
        <p:nvSpPr>
          <p:cNvPr id="20" name="Text 18"/>
          <p:cNvSpPr/>
          <p:nvPr/>
        </p:nvSpPr>
        <p:spPr>
          <a:xfrm>
            <a:off x="6446520" y="3383280"/>
            <a:ext cx="4709160" cy="548640"/>
          </a:xfrm>
          <a:prstGeom prst="rect">
            <a:avLst/>
          </a:prstGeom>
          <a:noFill/>
          <a:ln/>
        </p:spPr>
        <p:txBody>
          <a:bodyPr wrap="square" rtlCol="0" anchor="ctr"/>
          <a:lstStyle/>
          <a:p>
            <a:pPr indent="0" marL="0">
              <a:lnSpc>
                <a:spcPts val="1500"/>
              </a:lnSpc>
              <a:buNone/>
            </a:pPr>
            <a:r>
              <a:rPr lang="en-US" sz="950" dirty="0">
                <a:solidFill>
                  <a:srgbClr val="94A3B8"/>
                </a:solidFill>
              </a:rPr>
              <a:t>Touch controls, offline school packs, and teacher dashboard for tracking student conservation metrics.</a:t>
            </a:r>
            <a:endParaRPr lang="en-US" sz="950" dirty="0"/>
          </a:p>
        </p:txBody>
      </p:sp>
      <p:sp>
        <p:nvSpPr>
          <p:cNvPr id="21" name="Shape 19"/>
          <p:cNvSpPr/>
          <p:nvPr/>
        </p:nvSpPr>
        <p:spPr>
          <a:xfrm>
            <a:off x="6446520" y="4023360"/>
            <a:ext cx="1005840" cy="274320"/>
          </a:xfrm>
          <a:prstGeom prst="roundRect">
            <a:avLst>
              <a:gd name="adj" fmla="val 26667"/>
            </a:avLst>
          </a:prstGeom>
          <a:solidFill>
            <a:srgbClr val="3A2810"/>
          </a:solidFill>
          <a:ln w="10160">
            <a:solidFill>
              <a:srgbClr val="F59E0B"/>
            </a:solidFill>
            <a:prstDash val="solid"/>
          </a:ln>
        </p:spPr>
      </p:sp>
      <p:sp>
        <p:nvSpPr>
          <p:cNvPr id="22" name="Text 20"/>
          <p:cNvSpPr/>
          <p:nvPr/>
        </p:nvSpPr>
        <p:spPr>
          <a:xfrm>
            <a:off x="6446520" y="4023360"/>
            <a:ext cx="1005840" cy="274320"/>
          </a:xfrm>
          <a:prstGeom prst="rect">
            <a:avLst/>
          </a:prstGeom>
          <a:noFill/>
          <a:ln/>
        </p:spPr>
        <p:txBody>
          <a:bodyPr wrap="square" rtlCol="0" anchor="ctr"/>
          <a:lstStyle/>
          <a:p>
            <a:pPr algn="ctr" indent="0" marL="0">
              <a:buNone/>
            </a:pPr>
            <a:r>
              <a:rPr lang="en-US" sz="850" b="1" dirty="0">
                <a:solidFill>
                  <a:srgbClr val="F59E0B"/>
                </a:solidFill>
              </a:rPr>
              <a:t>Q2 2027</a:t>
            </a:r>
            <a:endParaRPr lang="en-US" sz="850" dirty="0"/>
          </a:p>
        </p:txBody>
      </p:sp>
      <p:sp>
        <p:nvSpPr>
          <p:cNvPr id="23" name="Text 21"/>
          <p:cNvSpPr/>
          <p:nvPr/>
        </p:nvSpPr>
        <p:spPr>
          <a:xfrm>
            <a:off x="7589520" y="4023360"/>
            <a:ext cx="3566160" cy="274320"/>
          </a:xfrm>
          <a:prstGeom prst="rect">
            <a:avLst/>
          </a:prstGeom>
          <a:noFill/>
          <a:ln/>
        </p:spPr>
        <p:txBody>
          <a:bodyPr wrap="square" rtlCol="0" anchor="ctr"/>
          <a:lstStyle/>
          <a:p>
            <a:pPr indent="0" marL="0">
              <a:buNone/>
            </a:pPr>
            <a:r>
              <a:rPr lang="en-US" sz="1100" b="1" dirty="0">
                <a:solidFill>
                  <a:srgbClr val="F8FAFC"/>
                </a:solidFill>
              </a:rPr>
              <a:t>Satellite &amp; IoT Telemetry Sync</a:t>
            </a:r>
            <a:endParaRPr lang="en-US" sz="1100" dirty="0"/>
          </a:p>
        </p:txBody>
      </p:sp>
      <p:sp>
        <p:nvSpPr>
          <p:cNvPr id="24" name="Text 22"/>
          <p:cNvSpPr/>
          <p:nvPr/>
        </p:nvSpPr>
        <p:spPr>
          <a:xfrm>
            <a:off x="6446520" y="4343400"/>
            <a:ext cx="4709160" cy="548640"/>
          </a:xfrm>
          <a:prstGeom prst="rect">
            <a:avLst/>
          </a:prstGeom>
          <a:noFill/>
          <a:ln/>
        </p:spPr>
        <p:txBody>
          <a:bodyPr wrap="square" rtlCol="0" anchor="ctr"/>
          <a:lstStyle/>
          <a:p>
            <a:pPr indent="0" marL="0">
              <a:lnSpc>
                <a:spcPts val="1500"/>
              </a:lnSpc>
              <a:buNone/>
            </a:pPr>
            <a:r>
              <a:rPr lang="en-US" sz="950" dirty="0">
                <a:solidFill>
                  <a:srgbClr val="94A3B8"/>
                </a:solidFill>
              </a:rPr>
              <a:t>Connecting live Bayer FarmRise / satellite moisture data to dynamically trigger real-world in-game weather.</a:t>
            </a:r>
            <a:endParaRPr lang="en-US" sz="950" dirty="0"/>
          </a:p>
        </p:txBody>
      </p:sp>
      <p:sp>
        <p:nvSpPr>
          <p:cNvPr id="25" name="Shape 23"/>
          <p:cNvSpPr/>
          <p:nvPr/>
        </p:nvSpPr>
        <p:spPr>
          <a:xfrm>
            <a:off x="6446520" y="4983480"/>
            <a:ext cx="1005840" cy="274320"/>
          </a:xfrm>
          <a:prstGeom prst="roundRect">
            <a:avLst>
              <a:gd name="adj" fmla="val 26667"/>
            </a:avLst>
          </a:prstGeom>
          <a:solidFill>
            <a:srgbClr val="3A2810"/>
          </a:solidFill>
          <a:ln w="10160">
            <a:solidFill>
              <a:srgbClr val="F59E0B"/>
            </a:solidFill>
            <a:prstDash val="solid"/>
          </a:ln>
        </p:spPr>
      </p:sp>
      <p:sp>
        <p:nvSpPr>
          <p:cNvPr id="26" name="Text 24"/>
          <p:cNvSpPr/>
          <p:nvPr/>
        </p:nvSpPr>
        <p:spPr>
          <a:xfrm>
            <a:off x="6446520" y="4983480"/>
            <a:ext cx="1005840" cy="274320"/>
          </a:xfrm>
          <a:prstGeom prst="rect">
            <a:avLst/>
          </a:prstGeom>
          <a:noFill/>
          <a:ln/>
        </p:spPr>
        <p:txBody>
          <a:bodyPr wrap="square" rtlCol="0" anchor="ctr"/>
          <a:lstStyle/>
          <a:p>
            <a:pPr algn="ctr" indent="0" marL="0">
              <a:buNone/>
            </a:pPr>
            <a:r>
              <a:rPr lang="en-US" sz="850" b="1" dirty="0">
                <a:solidFill>
                  <a:srgbClr val="F59E0B"/>
                </a:solidFill>
              </a:rPr>
              <a:t>Q3 2027</a:t>
            </a:r>
            <a:endParaRPr lang="en-US" sz="850" dirty="0"/>
          </a:p>
        </p:txBody>
      </p:sp>
      <p:sp>
        <p:nvSpPr>
          <p:cNvPr id="27" name="Text 25"/>
          <p:cNvSpPr/>
          <p:nvPr/>
        </p:nvSpPr>
        <p:spPr>
          <a:xfrm>
            <a:off x="7589520" y="4983480"/>
            <a:ext cx="3566160" cy="274320"/>
          </a:xfrm>
          <a:prstGeom prst="rect">
            <a:avLst/>
          </a:prstGeom>
          <a:noFill/>
          <a:ln/>
        </p:spPr>
        <p:txBody>
          <a:bodyPr wrap="square" rtlCol="0" anchor="ctr"/>
          <a:lstStyle/>
          <a:p>
            <a:pPr indent="0" marL="0">
              <a:buNone/>
            </a:pPr>
            <a:r>
              <a:rPr lang="en-US" sz="1100" b="1" dirty="0">
                <a:solidFill>
                  <a:srgbClr val="F8FAFC"/>
                </a:solidFill>
              </a:rPr>
              <a:t>Community Multi-Player Co-Op</a:t>
            </a:r>
            <a:endParaRPr lang="en-US" sz="1100" dirty="0"/>
          </a:p>
        </p:txBody>
      </p:sp>
      <p:sp>
        <p:nvSpPr>
          <p:cNvPr id="28" name="Text 26"/>
          <p:cNvSpPr/>
          <p:nvPr/>
        </p:nvSpPr>
        <p:spPr>
          <a:xfrm>
            <a:off x="6446520" y="5303520"/>
            <a:ext cx="4709160" cy="548640"/>
          </a:xfrm>
          <a:prstGeom prst="rect">
            <a:avLst/>
          </a:prstGeom>
          <a:noFill/>
          <a:ln/>
        </p:spPr>
        <p:txBody>
          <a:bodyPr wrap="square" rtlCol="0" anchor="ctr"/>
          <a:lstStyle/>
          <a:p>
            <a:pPr indent="0" marL="0">
              <a:lnSpc>
                <a:spcPts val="1500"/>
              </a:lnSpc>
              <a:buNone/>
            </a:pPr>
            <a:r>
              <a:rPr lang="en-US" sz="950" dirty="0">
                <a:solidFill>
                  <a:srgbClr val="94A3B8"/>
                </a:solidFill>
              </a:rPr>
              <a:t>Shared community farm plots where classrooms and groups collaborate to revive biomes collectively.</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31520" y="457200"/>
            <a:ext cx="2011680" cy="320040"/>
          </a:xfrm>
          <a:prstGeom prst="roundRect">
            <a:avLst>
              <a:gd name="adj" fmla="val 42857"/>
            </a:avLst>
          </a:prstGeom>
          <a:solidFill>
            <a:srgbClr val="065F46"/>
          </a:solidFill>
          <a:ln w="12700">
            <a:solidFill>
              <a:srgbClr val="10B981"/>
            </a:solidFill>
            <a:prstDash val="solid"/>
          </a:ln>
        </p:spPr>
      </p:sp>
      <p:sp>
        <p:nvSpPr>
          <p:cNvPr id="3" name="Text 1"/>
          <p:cNvSpPr/>
          <p:nvPr/>
        </p:nvSpPr>
        <p:spPr>
          <a:xfrm>
            <a:off x="731520" y="457200"/>
            <a:ext cx="2011680" cy="320040"/>
          </a:xfrm>
          <a:prstGeom prst="rect">
            <a:avLst/>
          </a:prstGeom>
          <a:noFill/>
          <a:ln/>
        </p:spPr>
        <p:txBody>
          <a:bodyPr wrap="square" rtlCol="0" anchor="ctr"/>
          <a:lstStyle/>
          <a:p>
            <a:pPr algn="ctr" indent="0" marL="0">
              <a:buNone/>
            </a:pPr>
            <a:r>
              <a:rPr lang="en-US" sz="1000" b="1" dirty="0">
                <a:solidFill>
                  <a:srgbClr val="10B981"/>
                </a:solidFill>
              </a:rPr>
              <a:t>EXECUTION &amp; RIGOR</a:t>
            </a:r>
            <a:endParaRPr lang="en-US" sz="1000" dirty="0"/>
          </a:p>
        </p:txBody>
      </p:sp>
      <p:sp>
        <p:nvSpPr>
          <p:cNvPr id="4" name="Text 2"/>
          <p:cNvSpPr/>
          <p:nvPr/>
        </p:nvSpPr>
        <p:spPr>
          <a:xfrm>
            <a:off x="731520" y="868680"/>
            <a:ext cx="10515600" cy="594360"/>
          </a:xfrm>
          <a:prstGeom prst="rect">
            <a:avLst/>
          </a:prstGeom>
          <a:noFill/>
          <a:ln/>
        </p:spPr>
        <p:txBody>
          <a:bodyPr wrap="square" rtlCol="0" anchor="ctr"/>
          <a:lstStyle/>
          <a:p>
            <a:pPr indent="0" marL="0">
              <a:buNone/>
            </a:pPr>
            <a:r>
              <a:rPr lang="en-US" sz="2600" b="1" dirty="0">
                <a:solidFill>
                  <a:srgbClr val="F8FAFC"/>
                </a:solidFill>
                <a:latin typeface="Arial" pitchFamily="34" charset="0"/>
                <a:ea typeface="Arial" pitchFamily="34" charset="-122"/>
                <a:cs typeface="Arial" pitchFamily="34" charset="-120"/>
              </a:rPr>
              <a:t>What We Built: Complete 48-Hour Hackathon Delivery</a:t>
            </a:r>
            <a:endParaRPr lang="en-US" sz="2600" dirty="0"/>
          </a:p>
        </p:txBody>
      </p:sp>
      <p:sp>
        <p:nvSpPr>
          <p:cNvPr id="5" name="Text 3"/>
          <p:cNvSpPr/>
          <p:nvPr/>
        </p:nvSpPr>
        <p:spPr>
          <a:xfrm>
            <a:off x="731520" y="1463040"/>
            <a:ext cx="10515600" cy="365760"/>
          </a:xfrm>
          <a:prstGeom prst="rect">
            <a:avLst/>
          </a:prstGeom>
          <a:noFill/>
          <a:ln/>
        </p:spPr>
        <p:txBody>
          <a:bodyPr wrap="square" rtlCol="0" anchor="ctr"/>
          <a:lstStyle/>
          <a:p>
            <a:pPr indent="0" marL="0">
              <a:buNone/>
            </a:pPr>
            <a:r>
              <a:rPr lang="en-US" sz="1300" dirty="0">
                <a:solidFill>
                  <a:srgbClr val="94A3B8"/>
                </a:solidFill>
                <a:latin typeface="Arial" pitchFamily="34" charset="0"/>
                <a:ea typeface="Arial" pitchFamily="34" charset="-122"/>
                <a:cs typeface="Arial" pitchFamily="34" charset="-120"/>
              </a:rPr>
              <a:t>A fully functional, deployable web application built from scratch</a:t>
            </a:r>
            <a:endParaRPr lang="en-US" sz="1300" dirty="0"/>
          </a:p>
        </p:txBody>
      </p:sp>
      <p:sp>
        <p:nvSpPr>
          <p:cNvPr id="6" name="Text 4"/>
          <p:cNvSpPr/>
          <p:nvPr/>
        </p:nvSpPr>
        <p:spPr>
          <a:xfrm>
            <a:off x="731520" y="6400800"/>
            <a:ext cx="8229600" cy="274320"/>
          </a:xfrm>
          <a:prstGeom prst="rect">
            <a:avLst/>
          </a:prstGeom>
          <a:noFill/>
          <a:ln/>
        </p:spPr>
        <p:txBody>
          <a:bodyPr wrap="square" rtlCol="0" anchor="ctr"/>
          <a:lstStyle/>
          <a:p>
            <a:pPr indent="0" marL="0">
              <a:buNone/>
            </a:pPr>
            <a:r>
              <a:rPr lang="en-US" sz="900" dirty="0">
                <a:solidFill>
                  <a:srgbClr val="64748B"/>
                </a:solidFill>
              </a:rPr>
              <a:t>FIELD TO FUTURE: BLOOM  |  Bayer Hackathon Track: Agriculture &amp; Sustainability</a:t>
            </a:r>
            <a:endParaRPr lang="en-US" sz="900" dirty="0"/>
          </a:p>
        </p:txBody>
      </p:sp>
      <p:sp>
        <p:nvSpPr>
          <p:cNvPr id="7" name="Text 5"/>
          <p:cNvSpPr/>
          <p:nvPr/>
        </p:nvSpPr>
        <p:spPr>
          <a:xfrm>
            <a:off x="10515600" y="6400800"/>
            <a:ext cx="914400" cy="274320"/>
          </a:xfrm>
          <a:prstGeom prst="rect">
            <a:avLst/>
          </a:prstGeom>
          <a:noFill/>
          <a:ln/>
        </p:spPr>
        <p:txBody>
          <a:bodyPr wrap="square" rtlCol="0" anchor="ctr"/>
          <a:lstStyle/>
          <a:p>
            <a:pPr algn="r" indent="0" marL="0">
              <a:buNone/>
            </a:pPr>
            <a:r>
              <a:rPr lang="en-US" sz="900" dirty="0">
                <a:solidFill>
                  <a:srgbClr val="64748B"/>
                </a:solidFill>
              </a:rPr>
              <a:t>11 / 12</a:t>
            </a:r>
            <a:endParaRPr lang="en-US" sz="900" dirty="0"/>
          </a:p>
        </p:txBody>
      </p:sp>
      <p:sp>
        <p:nvSpPr>
          <p:cNvPr id="8" name="Shape 6"/>
          <p:cNvSpPr/>
          <p:nvPr/>
        </p:nvSpPr>
        <p:spPr>
          <a:xfrm>
            <a:off x="731520" y="1965960"/>
            <a:ext cx="3429000" cy="1965960"/>
          </a:xfrm>
          <a:prstGeom prst="roundRect">
            <a:avLst>
              <a:gd name="adj" fmla="val 5581"/>
            </a:avLst>
          </a:prstGeom>
          <a:solidFill>
            <a:srgbClr val="1E293B"/>
          </a:solidFill>
          <a:ln w="12700">
            <a:solidFill>
              <a:srgbClr val="334155"/>
            </a:solidFill>
            <a:prstDash val="solid"/>
          </a:ln>
        </p:spPr>
      </p:sp>
      <p:sp>
        <p:nvSpPr>
          <p:cNvPr id="9" name="Text 7"/>
          <p:cNvSpPr/>
          <p:nvPr/>
        </p:nvSpPr>
        <p:spPr>
          <a:xfrm>
            <a:off x="914400" y="2148840"/>
            <a:ext cx="3063240" cy="411480"/>
          </a:xfrm>
          <a:prstGeom prst="rect">
            <a:avLst/>
          </a:prstGeom>
          <a:noFill/>
          <a:ln/>
        </p:spPr>
        <p:txBody>
          <a:bodyPr wrap="square" rtlCol="0" anchor="ctr"/>
          <a:lstStyle/>
          <a:p>
            <a:pPr indent="0" marL="0">
              <a:buNone/>
            </a:pPr>
            <a:r>
              <a:rPr lang="en-US" sz="2000" b="1" dirty="0">
                <a:solidFill>
                  <a:srgbClr val="10B981"/>
                </a:solidFill>
              </a:rPr>
              <a:t>3,200 x 2,400</a:t>
            </a:r>
            <a:endParaRPr lang="en-US" sz="2000" dirty="0"/>
          </a:p>
        </p:txBody>
      </p:sp>
      <p:sp>
        <p:nvSpPr>
          <p:cNvPr id="10" name="Text 8"/>
          <p:cNvSpPr/>
          <p:nvPr/>
        </p:nvSpPr>
        <p:spPr>
          <a:xfrm>
            <a:off x="914400" y="2606040"/>
            <a:ext cx="3063240" cy="274320"/>
          </a:xfrm>
          <a:prstGeom prst="rect">
            <a:avLst/>
          </a:prstGeom>
          <a:noFill/>
          <a:ln/>
        </p:spPr>
        <p:txBody>
          <a:bodyPr wrap="square" rtlCol="0" anchor="ctr"/>
          <a:lstStyle/>
          <a:p>
            <a:pPr indent="0" marL="0">
              <a:buNone/>
            </a:pPr>
            <a:r>
              <a:rPr lang="en-US" sz="1200" b="1" dirty="0">
                <a:solidFill>
                  <a:srgbClr val="F8FAFC"/>
                </a:solidFill>
              </a:rPr>
              <a:t>Canvas World Map</a:t>
            </a:r>
            <a:endParaRPr lang="en-US" sz="1200" dirty="0"/>
          </a:p>
        </p:txBody>
      </p:sp>
      <p:sp>
        <p:nvSpPr>
          <p:cNvPr id="11" name="Text 9"/>
          <p:cNvSpPr/>
          <p:nvPr/>
        </p:nvSpPr>
        <p:spPr>
          <a:xfrm>
            <a:off x="914400" y="2926080"/>
            <a:ext cx="3063240" cy="868680"/>
          </a:xfrm>
          <a:prstGeom prst="rect">
            <a:avLst/>
          </a:prstGeom>
          <a:noFill/>
          <a:ln/>
        </p:spPr>
        <p:txBody>
          <a:bodyPr wrap="square" rtlCol="0" anchor="ctr"/>
          <a:lstStyle/>
          <a:p>
            <a:pPr indent="0" marL="0">
              <a:lnSpc>
                <a:spcPts val="1500"/>
              </a:lnSpc>
              <a:buNone/>
            </a:pPr>
            <a:r>
              <a:rPr lang="en-US" sz="950" dirty="0">
                <a:solidFill>
                  <a:srgbClr val="94A3B8"/>
                </a:solidFill>
              </a:rPr>
              <a:t>7 distinct biomes, custom tile layers, collision physics, and smooth 60 FPS viewport camera tracking.</a:t>
            </a:r>
            <a:endParaRPr lang="en-US" sz="950" dirty="0"/>
          </a:p>
        </p:txBody>
      </p:sp>
      <p:sp>
        <p:nvSpPr>
          <p:cNvPr id="12" name="Shape 10"/>
          <p:cNvSpPr/>
          <p:nvPr/>
        </p:nvSpPr>
        <p:spPr>
          <a:xfrm>
            <a:off x="4343400" y="1965960"/>
            <a:ext cx="3429000" cy="1965960"/>
          </a:xfrm>
          <a:prstGeom prst="roundRect">
            <a:avLst>
              <a:gd name="adj" fmla="val 5581"/>
            </a:avLst>
          </a:prstGeom>
          <a:solidFill>
            <a:srgbClr val="1E293B"/>
          </a:solidFill>
          <a:ln w="12700">
            <a:solidFill>
              <a:srgbClr val="334155"/>
            </a:solidFill>
            <a:prstDash val="solid"/>
          </a:ln>
        </p:spPr>
      </p:sp>
      <p:sp>
        <p:nvSpPr>
          <p:cNvPr id="13" name="Text 11"/>
          <p:cNvSpPr/>
          <p:nvPr/>
        </p:nvSpPr>
        <p:spPr>
          <a:xfrm>
            <a:off x="4526280" y="2148840"/>
            <a:ext cx="3063240" cy="411480"/>
          </a:xfrm>
          <a:prstGeom prst="rect">
            <a:avLst/>
          </a:prstGeom>
          <a:noFill/>
          <a:ln/>
        </p:spPr>
        <p:txBody>
          <a:bodyPr wrap="square" rtlCol="0" anchor="ctr"/>
          <a:lstStyle/>
          <a:p>
            <a:pPr indent="0" marL="0">
              <a:buNone/>
            </a:pPr>
            <a:r>
              <a:rPr lang="en-US" sz="2000" b="1" dirty="0">
                <a:solidFill>
                  <a:srgbClr val="10B981"/>
                </a:solidFill>
              </a:rPr>
              <a:t>7 Minigames</a:t>
            </a:r>
            <a:endParaRPr lang="en-US" sz="2000" dirty="0"/>
          </a:p>
        </p:txBody>
      </p:sp>
      <p:sp>
        <p:nvSpPr>
          <p:cNvPr id="14" name="Text 12"/>
          <p:cNvSpPr/>
          <p:nvPr/>
        </p:nvSpPr>
        <p:spPr>
          <a:xfrm>
            <a:off x="4526280" y="2606040"/>
            <a:ext cx="3063240" cy="274320"/>
          </a:xfrm>
          <a:prstGeom prst="rect">
            <a:avLst/>
          </a:prstGeom>
          <a:noFill/>
          <a:ln/>
        </p:spPr>
        <p:txBody>
          <a:bodyPr wrap="square" rtlCol="0" anchor="ctr"/>
          <a:lstStyle/>
          <a:p>
            <a:pPr indent="0" marL="0">
              <a:buNone/>
            </a:pPr>
            <a:r>
              <a:rPr lang="en-US" sz="1200" b="1" dirty="0">
                <a:solidFill>
                  <a:srgbClr val="F8FAFC"/>
                </a:solidFill>
              </a:rPr>
              <a:t>Crisis &amp; Ag Simulators</a:t>
            </a:r>
            <a:endParaRPr lang="en-US" sz="1200" dirty="0"/>
          </a:p>
        </p:txBody>
      </p:sp>
      <p:sp>
        <p:nvSpPr>
          <p:cNvPr id="15" name="Text 13"/>
          <p:cNvSpPr/>
          <p:nvPr/>
        </p:nvSpPr>
        <p:spPr>
          <a:xfrm>
            <a:off x="4526280" y="2926080"/>
            <a:ext cx="3063240" cy="868680"/>
          </a:xfrm>
          <a:prstGeom prst="rect">
            <a:avLst/>
          </a:prstGeom>
          <a:noFill/>
          <a:ln/>
        </p:spPr>
        <p:txBody>
          <a:bodyPr wrap="square" rtlCol="0" anchor="ctr"/>
          <a:lstStyle/>
          <a:p>
            <a:pPr indent="0" marL="0">
              <a:lnSpc>
                <a:spcPts val="1500"/>
              </a:lnSpc>
              <a:buNone/>
            </a:pPr>
            <a:r>
              <a:rPr lang="en-US" sz="950" dirty="0">
                <a:solidFill>
                  <a:srgbClr val="94A3B8"/>
                </a:solidFill>
              </a:rPr>
              <a:t>Including the full Bayer Smart Farming simulator, circular recycling, wildfire quenching, and reef GPS router.</a:t>
            </a:r>
            <a:endParaRPr lang="en-US" sz="950" dirty="0"/>
          </a:p>
        </p:txBody>
      </p:sp>
      <p:sp>
        <p:nvSpPr>
          <p:cNvPr id="16" name="Shape 14"/>
          <p:cNvSpPr/>
          <p:nvPr/>
        </p:nvSpPr>
        <p:spPr>
          <a:xfrm>
            <a:off x="7955280" y="1965960"/>
            <a:ext cx="3429000" cy="1965960"/>
          </a:xfrm>
          <a:prstGeom prst="roundRect">
            <a:avLst>
              <a:gd name="adj" fmla="val 5581"/>
            </a:avLst>
          </a:prstGeom>
          <a:solidFill>
            <a:srgbClr val="1E293B"/>
          </a:solidFill>
          <a:ln w="12700">
            <a:solidFill>
              <a:srgbClr val="334155"/>
            </a:solidFill>
            <a:prstDash val="solid"/>
          </a:ln>
        </p:spPr>
      </p:sp>
      <p:sp>
        <p:nvSpPr>
          <p:cNvPr id="17" name="Text 15"/>
          <p:cNvSpPr/>
          <p:nvPr/>
        </p:nvSpPr>
        <p:spPr>
          <a:xfrm>
            <a:off x="8138160" y="2148840"/>
            <a:ext cx="3063240" cy="411480"/>
          </a:xfrm>
          <a:prstGeom prst="rect">
            <a:avLst/>
          </a:prstGeom>
          <a:noFill/>
          <a:ln/>
        </p:spPr>
        <p:txBody>
          <a:bodyPr wrap="square" rtlCol="0" anchor="ctr"/>
          <a:lstStyle/>
          <a:p>
            <a:pPr indent="0" marL="0">
              <a:buNone/>
            </a:pPr>
            <a:r>
              <a:rPr lang="en-US" sz="2000" b="1" dirty="0">
                <a:solidFill>
                  <a:srgbClr val="10B981"/>
                </a:solidFill>
              </a:rPr>
              <a:t>Google Gemini</a:t>
            </a:r>
            <a:endParaRPr lang="en-US" sz="2000" dirty="0"/>
          </a:p>
        </p:txBody>
      </p:sp>
      <p:sp>
        <p:nvSpPr>
          <p:cNvPr id="18" name="Text 16"/>
          <p:cNvSpPr/>
          <p:nvPr/>
        </p:nvSpPr>
        <p:spPr>
          <a:xfrm>
            <a:off x="8138160" y="2606040"/>
            <a:ext cx="3063240" cy="274320"/>
          </a:xfrm>
          <a:prstGeom prst="rect">
            <a:avLst/>
          </a:prstGeom>
          <a:noFill/>
          <a:ln/>
        </p:spPr>
        <p:txBody>
          <a:bodyPr wrap="square" rtlCol="0" anchor="ctr"/>
          <a:lstStyle/>
          <a:p>
            <a:pPr indent="0" marL="0">
              <a:buNone/>
            </a:pPr>
            <a:r>
              <a:rPr lang="en-US" sz="1200" b="1" dirty="0">
                <a:solidFill>
                  <a:srgbClr val="F8FAFC"/>
                </a:solidFill>
              </a:rPr>
              <a:t>Streaming 1.5 Flash AI</a:t>
            </a:r>
            <a:endParaRPr lang="en-US" sz="1200" dirty="0"/>
          </a:p>
        </p:txBody>
      </p:sp>
      <p:sp>
        <p:nvSpPr>
          <p:cNvPr id="19" name="Text 17"/>
          <p:cNvSpPr/>
          <p:nvPr/>
        </p:nvSpPr>
        <p:spPr>
          <a:xfrm>
            <a:off x="8138160" y="2926080"/>
            <a:ext cx="3063240" cy="868680"/>
          </a:xfrm>
          <a:prstGeom prst="rect">
            <a:avLst/>
          </a:prstGeom>
          <a:noFill/>
          <a:ln/>
        </p:spPr>
        <p:txBody>
          <a:bodyPr wrap="square" rtlCol="0" anchor="ctr"/>
          <a:lstStyle/>
          <a:p>
            <a:pPr indent="0" marL="0">
              <a:lnSpc>
                <a:spcPts val="1500"/>
              </a:lnSpc>
              <a:buNone/>
            </a:pPr>
            <a:r>
              <a:rPr lang="en-US" sz="950" dirty="0">
                <a:solidFill>
                  <a:srgbClr val="94A3B8"/>
                </a:solidFill>
              </a:rPr>
              <a:t>Context-injected LLM edge pipeline with offline fallback architecture for guaranteed 100% demo uptime.</a:t>
            </a:r>
            <a:endParaRPr lang="en-US" sz="950" dirty="0"/>
          </a:p>
        </p:txBody>
      </p:sp>
      <p:sp>
        <p:nvSpPr>
          <p:cNvPr id="20" name="Shape 18"/>
          <p:cNvSpPr/>
          <p:nvPr/>
        </p:nvSpPr>
        <p:spPr>
          <a:xfrm>
            <a:off x="731520" y="4114800"/>
            <a:ext cx="3429000" cy="1965960"/>
          </a:xfrm>
          <a:prstGeom prst="roundRect">
            <a:avLst>
              <a:gd name="adj" fmla="val 5581"/>
            </a:avLst>
          </a:prstGeom>
          <a:solidFill>
            <a:srgbClr val="1E293B"/>
          </a:solidFill>
          <a:ln w="12700">
            <a:solidFill>
              <a:srgbClr val="334155"/>
            </a:solidFill>
            <a:prstDash val="solid"/>
          </a:ln>
        </p:spPr>
      </p:sp>
      <p:sp>
        <p:nvSpPr>
          <p:cNvPr id="21" name="Text 19"/>
          <p:cNvSpPr/>
          <p:nvPr/>
        </p:nvSpPr>
        <p:spPr>
          <a:xfrm>
            <a:off x="914400" y="4297680"/>
            <a:ext cx="3063240" cy="411480"/>
          </a:xfrm>
          <a:prstGeom prst="rect">
            <a:avLst/>
          </a:prstGeom>
          <a:noFill/>
          <a:ln/>
        </p:spPr>
        <p:txBody>
          <a:bodyPr wrap="square" rtlCol="0" anchor="ctr"/>
          <a:lstStyle/>
          <a:p>
            <a:pPr indent="0" marL="0">
              <a:buNone/>
            </a:pPr>
            <a:r>
              <a:rPr lang="en-US" sz="2000" b="1" dirty="0">
                <a:solidFill>
                  <a:srgbClr val="10B981"/>
                </a:solidFill>
              </a:rPr>
              <a:t>WebGL Shader</a:t>
            </a:r>
            <a:endParaRPr lang="en-US" sz="2000" dirty="0"/>
          </a:p>
        </p:txBody>
      </p:sp>
      <p:sp>
        <p:nvSpPr>
          <p:cNvPr id="22" name="Text 20"/>
          <p:cNvSpPr/>
          <p:nvPr/>
        </p:nvSpPr>
        <p:spPr>
          <a:xfrm>
            <a:off x="914400" y="4754880"/>
            <a:ext cx="3063240" cy="274320"/>
          </a:xfrm>
          <a:prstGeom prst="rect">
            <a:avLst/>
          </a:prstGeom>
          <a:noFill/>
          <a:ln/>
        </p:spPr>
        <p:txBody>
          <a:bodyPr wrap="square" rtlCol="0" anchor="ctr"/>
          <a:lstStyle/>
          <a:p>
            <a:pPr indent="0" marL="0">
              <a:buNone/>
            </a:pPr>
            <a:r>
              <a:rPr lang="en-US" sz="1200" b="1" dirty="0">
                <a:solidFill>
                  <a:srgbClr val="F8FAFC"/>
                </a:solidFill>
              </a:rPr>
              <a:t>Ash-to-Eden Pipeline</a:t>
            </a:r>
            <a:endParaRPr lang="en-US" sz="1200" dirty="0"/>
          </a:p>
        </p:txBody>
      </p:sp>
      <p:sp>
        <p:nvSpPr>
          <p:cNvPr id="23" name="Text 21"/>
          <p:cNvSpPr/>
          <p:nvPr/>
        </p:nvSpPr>
        <p:spPr>
          <a:xfrm>
            <a:off x="914400" y="5074920"/>
            <a:ext cx="3063240" cy="868680"/>
          </a:xfrm>
          <a:prstGeom prst="rect">
            <a:avLst/>
          </a:prstGeom>
          <a:noFill/>
          <a:ln/>
        </p:spPr>
        <p:txBody>
          <a:bodyPr wrap="square" rtlCol="0" anchor="ctr"/>
          <a:lstStyle/>
          <a:p>
            <a:pPr indent="0" marL="0">
              <a:lnSpc>
                <a:spcPts val="1500"/>
              </a:lnSpc>
              <a:buNone/>
            </a:pPr>
            <a:r>
              <a:rPr lang="en-US" sz="950" dirty="0">
                <a:solidFill>
                  <a:srgbClr val="94A3B8"/>
                </a:solidFill>
              </a:rPr>
              <a:t>Real-time color desaturation and contrast shift lerping smoothly as world flourish levels increase.</a:t>
            </a:r>
            <a:endParaRPr lang="en-US" sz="950" dirty="0"/>
          </a:p>
        </p:txBody>
      </p:sp>
      <p:sp>
        <p:nvSpPr>
          <p:cNvPr id="24" name="Shape 22"/>
          <p:cNvSpPr/>
          <p:nvPr/>
        </p:nvSpPr>
        <p:spPr>
          <a:xfrm>
            <a:off x="4343400" y="4114800"/>
            <a:ext cx="3429000" cy="1965960"/>
          </a:xfrm>
          <a:prstGeom prst="roundRect">
            <a:avLst>
              <a:gd name="adj" fmla="val 5581"/>
            </a:avLst>
          </a:prstGeom>
          <a:solidFill>
            <a:srgbClr val="1E293B"/>
          </a:solidFill>
          <a:ln w="12700">
            <a:solidFill>
              <a:srgbClr val="334155"/>
            </a:solidFill>
            <a:prstDash val="solid"/>
          </a:ln>
        </p:spPr>
      </p:sp>
      <p:sp>
        <p:nvSpPr>
          <p:cNvPr id="25" name="Text 23"/>
          <p:cNvSpPr/>
          <p:nvPr/>
        </p:nvSpPr>
        <p:spPr>
          <a:xfrm>
            <a:off x="4526280" y="4297680"/>
            <a:ext cx="3063240" cy="411480"/>
          </a:xfrm>
          <a:prstGeom prst="rect">
            <a:avLst/>
          </a:prstGeom>
          <a:noFill/>
          <a:ln/>
        </p:spPr>
        <p:txBody>
          <a:bodyPr wrap="square" rtlCol="0" anchor="ctr"/>
          <a:lstStyle/>
          <a:p>
            <a:pPr indent="0" marL="0">
              <a:buNone/>
            </a:pPr>
            <a:r>
              <a:rPr lang="en-US" sz="2000" b="1" dirty="0">
                <a:solidFill>
                  <a:srgbClr val="10B981"/>
                </a:solidFill>
              </a:rPr>
              <a:t>Web Audio API</a:t>
            </a:r>
            <a:endParaRPr lang="en-US" sz="2000" dirty="0"/>
          </a:p>
        </p:txBody>
      </p:sp>
      <p:sp>
        <p:nvSpPr>
          <p:cNvPr id="26" name="Text 24"/>
          <p:cNvSpPr/>
          <p:nvPr/>
        </p:nvSpPr>
        <p:spPr>
          <a:xfrm>
            <a:off x="4526280" y="4754880"/>
            <a:ext cx="3063240" cy="274320"/>
          </a:xfrm>
          <a:prstGeom prst="rect">
            <a:avLst/>
          </a:prstGeom>
          <a:noFill/>
          <a:ln/>
        </p:spPr>
        <p:txBody>
          <a:bodyPr wrap="square" rtlCol="0" anchor="ctr"/>
          <a:lstStyle/>
          <a:p>
            <a:pPr indent="0" marL="0">
              <a:buNone/>
            </a:pPr>
            <a:r>
              <a:rPr lang="en-US" sz="1200" b="1" dirty="0">
                <a:solidFill>
                  <a:srgbClr val="F8FAFC"/>
                </a:solidFill>
              </a:rPr>
              <a:t>Zero-Asset Soundtracks</a:t>
            </a:r>
            <a:endParaRPr lang="en-US" sz="1200" dirty="0"/>
          </a:p>
        </p:txBody>
      </p:sp>
      <p:sp>
        <p:nvSpPr>
          <p:cNvPr id="27" name="Text 25"/>
          <p:cNvSpPr/>
          <p:nvPr/>
        </p:nvSpPr>
        <p:spPr>
          <a:xfrm>
            <a:off x="4526280" y="5074920"/>
            <a:ext cx="3063240" cy="868680"/>
          </a:xfrm>
          <a:prstGeom prst="rect">
            <a:avLst/>
          </a:prstGeom>
          <a:noFill/>
          <a:ln/>
        </p:spPr>
        <p:txBody>
          <a:bodyPr wrap="square" rtlCol="0" anchor="ctr"/>
          <a:lstStyle/>
          <a:p>
            <a:pPr indent="0" marL="0">
              <a:lnSpc>
                <a:spcPts val="1500"/>
              </a:lnSpc>
              <a:buNone/>
            </a:pPr>
            <a:r>
              <a:rPr lang="en-US" sz="950" dirty="0">
                <a:solidFill>
                  <a:srgbClr val="94A3B8"/>
                </a:solidFill>
              </a:rPr>
              <a:t>100% browser-synthesized ambient generative soundscapes and retro 8-bit sound effects across all biomes.</a:t>
            </a:r>
            <a:endParaRPr lang="en-US" sz="950" dirty="0"/>
          </a:p>
        </p:txBody>
      </p:sp>
      <p:sp>
        <p:nvSpPr>
          <p:cNvPr id="28" name="Shape 26"/>
          <p:cNvSpPr/>
          <p:nvPr/>
        </p:nvSpPr>
        <p:spPr>
          <a:xfrm>
            <a:off x="7955280" y="4114800"/>
            <a:ext cx="3429000" cy="1965960"/>
          </a:xfrm>
          <a:prstGeom prst="roundRect">
            <a:avLst>
              <a:gd name="adj" fmla="val 5581"/>
            </a:avLst>
          </a:prstGeom>
          <a:solidFill>
            <a:srgbClr val="1E293B"/>
          </a:solidFill>
          <a:ln w="12700">
            <a:solidFill>
              <a:srgbClr val="334155"/>
            </a:solidFill>
            <a:prstDash val="solid"/>
          </a:ln>
        </p:spPr>
      </p:sp>
      <p:sp>
        <p:nvSpPr>
          <p:cNvPr id="29" name="Text 27"/>
          <p:cNvSpPr/>
          <p:nvPr/>
        </p:nvSpPr>
        <p:spPr>
          <a:xfrm>
            <a:off x="8138160" y="4297680"/>
            <a:ext cx="3063240" cy="411480"/>
          </a:xfrm>
          <a:prstGeom prst="rect">
            <a:avLst/>
          </a:prstGeom>
          <a:noFill/>
          <a:ln/>
        </p:spPr>
        <p:txBody>
          <a:bodyPr wrap="square" rtlCol="0" anchor="ctr"/>
          <a:lstStyle/>
          <a:p>
            <a:pPr indent="0" marL="0">
              <a:buNone/>
            </a:pPr>
            <a:r>
              <a:rPr lang="en-US" sz="2000" b="1" dirty="0">
                <a:solidFill>
                  <a:srgbClr val="10B981"/>
                </a:solidFill>
              </a:rPr>
              <a:t>15+ Badges</a:t>
            </a:r>
            <a:endParaRPr lang="en-US" sz="2000" dirty="0"/>
          </a:p>
        </p:txBody>
      </p:sp>
      <p:sp>
        <p:nvSpPr>
          <p:cNvPr id="30" name="Text 28"/>
          <p:cNvSpPr/>
          <p:nvPr/>
        </p:nvSpPr>
        <p:spPr>
          <a:xfrm>
            <a:off x="8138160" y="4754880"/>
            <a:ext cx="3063240" cy="274320"/>
          </a:xfrm>
          <a:prstGeom prst="rect">
            <a:avLst/>
          </a:prstGeom>
          <a:noFill/>
          <a:ln/>
        </p:spPr>
        <p:txBody>
          <a:bodyPr wrap="square" rtlCol="0" anchor="ctr"/>
          <a:lstStyle/>
          <a:p>
            <a:pPr indent="0" marL="0">
              <a:buNone/>
            </a:pPr>
            <a:r>
              <a:rPr lang="en-US" sz="1200" b="1" dirty="0">
                <a:solidFill>
                  <a:srgbClr val="F8FAFC"/>
                </a:solidFill>
              </a:rPr>
              <a:t>Treasury &amp; Persistence</a:t>
            </a:r>
            <a:endParaRPr lang="en-US" sz="1200" dirty="0"/>
          </a:p>
        </p:txBody>
      </p:sp>
      <p:sp>
        <p:nvSpPr>
          <p:cNvPr id="31" name="Text 29"/>
          <p:cNvSpPr/>
          <p:nvPr/>
        </p:nvSpPr>
        <p:spPr>
          <a:xfrm>
            <a:off x="8138160" y="5074920"/>
            <a:ext cx="3063240" cy="868680"/>
          </a:xfrm>
          <a:prstGeom prst="rect">
            <a:avLst/>
          </a:prstGeom>
          <a:noFill/>
          <a:ln/>
        </p:spPr>
        <p:txBody>
          <a:bodyPr wrap="square" rtlCol="0" anchor="ctr"/>
          <a:lstStyle/>
          <a:p>
            <a:pPr indent="0" marL="0">
              <a:lnSpc>
                <a:spcPts val="1500"/>
              </a:lnSpc>
              <a:buNone/>
            </a:pPr>
            <a:r>
              <a:rPr lang="en-US" sz="950" dirty="0">
                <a:solidFill>
                  <a:srgbClr val="94A3B8"/>
                </a:solidFill>
              </a:rPr>
              <a:t>Complete client-side ledger tracking 6 biome coin balances, unlocked badges, and farm revival states.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731520" y="731520"/>
            <a:ext cx="10728655" cy="5394960"/>
          </a:xfrm>
          <a:prstGeom prst="roundRect">
            <a:avLst>
              <a:gd name="adj" fmla="val 4237"/>
            </a:avLst>
          </a:prstGeom>
          <a:solidFill>
            <a:srgbClr val="131E35"/>
          </a:solidFill>
          <a:ln w="19050">
            <a:solidFill>
              <a:srgbClr val="1E3A5F"/>
            </a:solidFill>
            <a:prstDash val="solid"/>
          </a:ln>
        </p:spPr>
      </p:sp>
      <p:sp>
        <p:nvSpPr>
          <p:cNvPr id="3" name="Shape 1"/>
          <p:cNvSpPr/>
          <p:nvPr/>
        </p:nvSpPr>
        <p:spPr>
          <a:xfrm>
            <a:off x="4261104" y="1097280"/>
            <a:ext cx="3657600" cy="411480"/>
          </a:xfrm>
          <a:prstGeom prst="roundRect">
            <a:avLst>
              <a:gd name="adj" fmla="val 44444"/>
            </a:avLst>
          </a:prstGeom>
          <a:solidFill>
            <a:srgbClr val="143828"/>
          </a:solidFill>
          <a:ln w="15240">
            <a:solidFill>
              <a:srgbClr val="10B981"/>
            </a:solidFill>
            <a:prstDash val="solid"/>
          </a:ln>
        </p:spPr>
      </p:sp>
      <p:sp>
        <p:nvSpPr>
          <p:cNvPr id="4" name="Text 2"/>
          <p:cNvSpPr/>
          <p:nvPr/>
        </p:nvSpPr>
        <p:spPr>
          <a:xfrm>
            <a:off x="4261104" y="1097280"/>
            <a:ext cx="3657600" cy="411480"/>
          </a:xfrm>
          <a:prstGeom prst="rect">
            <a:avLst/>
          </a:prstGeom>
          <a:noFill/>
          <a:ln/>
        </p:spPr>
        <p:txBody>
          <a:bodyPr wrap="square" rtlCol="0" anchor="ctr"/>
          <a:lstStyle/>
          <a:p>
            <a:pPr algn="ctr" indent="0" marL="0">
              <a:buNone/>
            </a:pPr>
            <a:r>
              <a:rPr lang="en-US" sz="1000" b="1" dirty="0">
                <a:solidFill>
                  <a:srgbClr val="10B981"/>
                </a:solidFill>
              </a:rPr>
              <a:t>FIELD TO FUTURE: BLOOM</a:t>
            </a:r>
            <a:endParaRPr lang="en-US" sz="1000" dirty="0"/>
          </a:p>
        </p:txBody>
      </p:sp>
      <p:sp>
        <p:nvSpPr>
          <p:cNvPr id="5" name="Text 3"/>
          <p:cNvSpPr/>
          <p:nvPr/>
        </p:nvSpPr>
        <p:spPr>
          <a:xfrm>
            <a:off x="1371600" y="1691640"/>
            <a:ext cx="9445752" cy="822960"/>
          </a:xfrm>
          <a:prstGeom prst="rect">
            <a:avLst/>
          </a:prstGeom>
          <a:noFill/>
          <a:ln/>
        </p:spPr>
        <p:txBody>
          <a:bodyPr wrap="square" rtlCol="0" anchor="ctr"/>
          <a:lstStyle/>
          <a:p>
            <a:pPr algn="ctr" indent="0" marL="0">
              <a:buNone/>
            </a:pPr>
            <a:r>
              <a:rPr lang="en-US" sz="4000" b="1" dirty="0">
                <a:solidFill>
                  <a:srgbClr val="F8FAFC"/>
                </a:solidFill>
              </a:rPr>
              <a:t>Help The World Flourish.</a:t>
            </a:r>
            <a:endParaRPr lang="en-US" sz="4000" dirty="0"/>
          </a:p>
        </p:txBody>
      </p:sp>
      <p:sp>
        <p:nvSpPr>
          <p:cNvPr id="6" name="Text 4"/>
          <p:cNvSpPr/>
          <p:nvPr/>
        </p:nvSpPr>
        <p:spPr>
          <a:xfrm>
            <a:off x="1371600" y="2514600"/>
            <a:ext cx="9445752" cy="411480"/>
          </a:xfrm>
          <a:prstGeom prst="rect">
            <a:avLst/>
          </a:prstGeom>
          <a:noFill/>
          <a:ln/>
        </p:spPr>
        <p:txBody>
          <a:bodyPr wrap="square" rtlCol="0" anchor="ctr"/>
          <a:lstStyle/>
          <a:p>
            <a:pPr algn="ctr" indent="0" marL="0">
              <a:buNone/>
            </a:pPr>
            <a:r>
              <a:rPr lang="en-US" sz="1800" b="1" spc="400" kern="0" dirty="0">
                <a:solidFill>
                  <a:srgbClr val="F59E0B"/>
                </a:solidFill>
              </a:rPr>
              <a:t>FROM ASHES TO EDEN</a:t>
            </a:r>
            <a:endParaRPr lang="en-US" sz="1800" dirty="0"/>
          </a:p>
        </p:txBody>
      </p:sp>
      <p:sp>
        <p:nvSpPr>
          <p:cNvPr id="7" name="Text 5"/>
          <p:cNvSpPr/>
          <p:nvPr/>
        </p:nvSpPr>
        <p:spPr>
          <a:xfrm>
            <a:off x="2011680" y="3063240"/>
            <a:ext cx="8165592" cy="777240"/>
          </a:xfrm>
          <a:prstGeom prst="rect">
            <a:avLst/>
          </a:prstGeom>
          <a:noFill/>
          <a:ln/>
        </p:spPr>
        <p:txBody>
          <a:bodyPr wrap="square" rtlCol="0" anchor="ctr"/>
          <a:lstStyle/>
          <a:p>
            <a:pPr algn="ctr" indent="0" marL="0">
              <a:lnSpc>
                <a:spcPts val="2000"/>
              </a:lnSpc>
              <a:buNone/>
            </a:pPr>
            <a:r>
              <a:rPr lang="en-US" sz="1300" dirty="0">
                <a:solidFill>
                  <a:srgbClr val="94A3B8"/>
                </a:solidFill>
              </a:rPr>
              <a:t>By bridging joyful gamification, Bayer precision agriculture, and real-world civic impact, Bloom transforms passive climate despair into tangible, flourishing planetary renewal.</a:t>
            </a:r>
            <a:endParaRPr lang="en-US" sz="1300" dirty="0"/>
          </a:p>
        </p:txBody>
      </p:sp>
      <p:sp>
        <p:nvSpPr>
          <p:cNvPr id="8" name="Shape 6"/>
          <p:cNvSpPr/>
          <p:nvPr/>
        </p:nvSpPr>
        <p:spPr>
          <a:xfrm>
            <a:off x="2286000" y="4023360"/>
            <a:ext cx="7616952" cy="1645920"/>
          </a:xfrm>
          <a:prstGeom prst="roundRect">
            <a:avLst>
              <a:gd name="adj" fmla="val 8333"/>
            </a:avLst>
          </a:prstGeom>
          <a:solidFill>
            <a:srgbClr val="1E293B"/>
          </a:solidFill>
          <a:ln w="19050">
            <a:solidFill>
              <a:srgbClr val="10B981"/>
            </a:solidFill>
            <a:prstDash val="solid"/>
          </a:ln>
        </p:spPr>
      </p:sp>
      <p:sp>
        <p:nvSpPr>
          <p:cNvPr id="9" name="Text 7"/>
          <p:cNvSpPr/>
          <p:nvPr/>
        </p:nvSpPr>
        <p:spPr>
          <a:xfrm>
            <a:off x="2468880" y="4206240"/>
            <a:ext cx="7251192" cy="365760"/>
          </a:xfrm>
          <a:prstGeom prst="rect">
            <a:avLst/>
          </a:prstGeom>
          <a:noFill/>
          <a:ln/>
        </p:spPr>
        <p:txBody>
          <a:bodyPr wrap="square" rtlCol="0" anchor="ctr"/>
          <a:lstStyle/>
          <a:p>
            <a:pPr algn="ctr" indent="0" marL="0">
              <a:buNone/>
            </a:pPr>
            <a:r>
              <a:rPr lang="en-US" sz="1400" b="1" dirty="0">
                <a:solidFill>
                  <a:srgbClr val="10B981"/>
                </a:solidFill>
              </a:rPr>
              <a:t>🚀 READY FOR LIVE DEMONSTRATION &amp; JUDGE Q&amp;A</a:t>
            </a:r>
            <a:endParaRPr lang="en-US" sz="1400" dirty="0"/>
          </a:p>
        </p:txBody>
      </p:sp>
      <p:sp>
        <p:nvSpPr>
          <p:cNvPr id="10" name="Text 8"/>
          <p:cNvSpPr/>
          <p:nvPr/>
        </p:nvSpPr>
        <p:spPr>
          <a:xfrm>
            <a:off x="2468880" y="4663440"/>
            <a:ext cx="7251192" cy="731520"/>
          </a:xfrm>
          <a:prstGeom prst="rect">
            <a:avLst/>
          </a:prstGeom>
          <a:noFill/>
          <a:ln/>
        </p:spPr>
        <p:txBody>
          <a:bodyPr wrap="square" rtlCol="0" anchor="ctr"/>
          <a:lstStyle/>
          <a:p>
            <a:pPr algn="ctr" indent="0" marL="0">
              <a:lnSpc>
                <a:spcPts val="1800"/>
              </a:lnSpc>
              <a:buNone/>
            </a:pPr>
            <a:r>
              <a:rPr lang="en-US" sz="1100" dirty="0">
                <a:solidFill>
                  <a:srgbClr val="F8FAFC"/>
                </a:solidFill>
              </a:rPr>
              <a:t>Experience the Ash-to-Eden transformation live right now on localhost:3000</a:t>
            </a:r>
            <a:endParaRPr lang="en-US" sz="1100" dirty="0"/>
          </a:p>
          <a:p>
            <a:pPr algn="ctr" indent="0" marL="0">
              <a:lnSpc>
                <a:spcPts val="1800"/>
              </a:lnSpc>
              <a:buNone/>
            </a:pPr>
            <a:r>
              <a:rPr lang="en-US" sz="1100" dirty="0">
                <a:solidFill>
                  <a:srgbClr val="F8FAFC"/>
                </a:solidFill>
              </a:rPr>
              <a:t>Special thanks to Bayer, the mentors, and the hackathon judging panel.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Field to Future / Bayer Hackathon Team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Field to Future: Bloom — Hackathon Pitch Deck</dc:title>
  <dc:subject>Eco-Restoration RPG &amp; Precision Smart Agriculture Platform</dc:subject>
  <dc:creator>Bloom Hackathon Team</dc:creator>
  <cp:lastModifiedBy>Bloom Hackathon Team</cp:lastModifiedBy>
  <cp:revision>1</cp:revision>
  <dcterms:created xsi:type="dcterms:W3CDTF">2026-10-10T18:13:16Z</dcterms:created>
  <dcterms:modified xsi:type="dcterms:W3CDTF">2026-10-10T18:13:16Z</dcterms:modified>
</cp:coreProperties>
</file>